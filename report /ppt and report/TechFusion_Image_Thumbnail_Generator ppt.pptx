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931" y="1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2052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We're Team TechFusion — I'm Chitvan, and this is Sujal. Today we're presenting the final prototype of our project: an Image Thumbnail Generator. This is not a concept anymore — it's a fully working, deployed system built on AWS serverless technology, and we're excited to walk you through exactly how it works.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modern web application that deals with images faces the same challenge — you need multiple sizes of the same image for galleries, previews, and listings. Storing and serving full-resolution images everywhere wastes storage and bandwidth, and generating thumbnails manually or on the main server adds unnecessary load. What's really needed is a solution that automates this process and scales on its own — which is exactly the gap we set out to fill.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an automated, cloud-based Image Thumbnail Generator. The flow is simple from the user's perspective: they upload an image through our web interface, and everything else happens behind the scenes. The image goes to Amazon S3, that upload event automatically triggers an AWS Lambda function, Lambda uses Python and Pillow to resize the image, and the resulting thumbnail is written back to S3. The web app then retrieves both the original and the thumbnail using secure, time-limited presigned URLs. No manual steps, no server bottleneck.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working prototype — not a mockup. On the left you can see the real interface: users can drag and drop an image or browse for one, see an instant preview along with the file name and size, and upload it with a single click. The interface enforces our supported formats — JPG, PNG, GIF, WEBP — and a 5 MB size limit. Once uploaded, the app shows live status updates and finally displays the original image next to the automatically generated thumbnail. Everything you see here is fully functional today.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architecture end to end. The browser talks to our PHP web application, which validates and uploads the image into an S3 bucket under the uploads prefix. That upload automatically fires an S3 ObjectCreated event, which invokes our AWS Lambda function. Lambda runs Python with the Pillow library to resize the image and writes the thumbnail into a separate thumbnails prefix in S3. Our PHP script polls for that thumbnail, generates a secure presigned URL once it's ready, and the browser displays both images. Every arrow here represents a real, working connection in our deployed system.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breaks the entire pipeline into fourteen concrete steps. It starts on the client side — image selection, JavaScript validation — moves through PHP server-side validation and the S3 upload, and then the blue-to-navy transition shows exactly where Lambda takes over: downloading the image, processing it with Pillow while preserving aspect ratio, and writing back an optimized JPEG. The final steps in green cover delivery — polling, presigned URL generation, and displaying the result. Every one of these steps runs in our deployed prototype today.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frontend, we built everything in vanilla JavaScript — no frameworks — handling drag-and-drop, client-side validation, live previews, and asynchronous polling. On the backend, PHP 8 with the AWS SDK handles the upload, performs real MIME-type validation using finfo rather than trusting file extensions, and generates presigned URLs. The actual image processing lives in AWS Lambda, written in Python 3.12 using Pillow — it resizes images while preserving aspect ratio and outputs an optimized JPEG. We also made sure the system correctly handles different image modes, including RGBA and palette-based images, and animated GIFs by processing their first frame.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wasn't an afterthought. Our AWS credentials are kept in environment variables and never committed to version control, the S3 bucket is fully private, and all image access happens through time-limited presigned URLs rather than public links. We validate files both by extension and by actual MIME type, randomize filenames to prevent collisions or path traversal, and follow least-privilege IAM policies for every AWS role. On the reliability side, we scoped our S3 event trigger specifically to the uploads prefix — this is an important detail, because without it, Lambda writing a thumbnail back to S3 could accidentally re-trigger itself in an infinite loop. Processing is asynchronous, and we always preserve aspect ratio and never upscale images.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speak for themselves: uploads succeed reliably, Lambda is invoked automatically every time, and the interface is responsive and modern with clear status feedback and error handling throughout. The comparison table puts it in perspective — where a basic approach relies on manual, server-based processing with limited scaling, our final prototype offloads everything to serverless Lambda, stores files in S3, secures access with presigned URLs, and validates on both client and server. We're not claiming specific performance numbers we haven't benchmarked — but structurally, this is a fundamentally more scalable design.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there's plenty of room to grow this system — generating multiple thumbnail sizes, supporting batch processing, adding formats like WebP and AVIF, integrating a CDN, and adding user authentication and monitoring are all realistic next steps. But to conclude: this project set out to solve a real, common problem, and we've delivered a genuinely working, cloud-based, event-driven, serverless solution using S3, Lambda, Python, and PHP — from upload to automated thumbnail generation, the entire workflow is live today. Thank you — we're happy to take any questions or walk through a live demo.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6.png"/><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6.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png"/><Relationship Id="rId10" Type="http://schemas.openxmlformats.org/officeDocument/2006/relationships/image" Target="../media/image9.png"/><Relationship Id="rId4" Type="http://schemas.openxmlformats.org/officeDocument/2006/relationships/image" Target="../media/image11.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13" name="Text 11"/>
          <p:cNvSpPr/>
          <p:nvPr/>
        </p:nvSpPr>
        <p:spPr>
          <a:xfrm>
            <a:off x="822960" y="1417320"/>
            <a:ext cx="8229600" cy="365760"/>
          </a:xfrm>
          <a:prstGeom prst="rect">
            <a:avLst/>
          </a:prstGeom>
          <a:noFill/>
          <a:ln/>
        </p:spPr>
        <p:txBody>
          <a:bodyPr wrap="square" rtlCol="0" anchor="ctr"/>
          <a:lstStyle/>
          <a:p>
            <a:pPr marL="0" indent="0">
              <a:buNone/>
            </a:pPr>
            <a:r>
              <a:rPr lang="en-US" sz="1400" b="1" kern="0" spc="300" dirty="0">
                <a:solidFill>
                  <a:srgbClr val="00C2E0"/>
                </a:solidFill>
                <a:latin typeface="Calibri" pitchFamily="34" charset="0"/>
                <a:ea typeface="Calibri" pitchFamily="34" charset="-122"/>
                <a:cs typeface="Calibri" pitchFamily="34" charset="-120"/>
              </a:rPr>
              <a:t>FINAL PROTOTYPE &amp; IMPLEMENTATION</a:t>
            </a:r>
            <a:endParaRPr lang="en-US" sz="1400" dirty="0"/>
          </a:p>
        </p:txBody>
      </p:sp>
      <p:sp>
        <p:nvSpPr>
          <p:cNvPr id="14" name="Text 12"/>
          <p:cNvSpPr/>
          <p:nvPr/>
        </p:nvSpPr>
        <p:spPr>
          <a:xfrm>
            <a:off x="777240" y="1828800"/>
            <a:ext cx="9875520" cy="118872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Image Thumbnail Generator</a:t>
            </a:r>
            <a:endParaRPr lang="en-US" sz="4600" dirty="0"/>
          </a:p>
        </p:txBody>
      </p:sp>
      <p:sp>
        <p:nvSpPr>
          <p:cNvPr id="15" name="Text 13"/>
          <p:cNvSpPr/>
          <p:nvPr/>
        </p:nvSpPr>
        <p:spPr>
          <a:xfrm>
            <a:off x="822960" y="2880360"/>
            <a:ext cx="8595360" cy="640080"/>
          </a:xfrm>
          <a:prstGeom prst="rect">
            <a:avLst/>
          </a:prstGeom>
          <a:noFill/>
          <a:ln/>
        </p:spPr>
        <p:txBody>
          <a:bodyPr wrap="square"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A serverless, cloud-native pipeline that turns any uploaded image into an optimized thumbnail — automatically.</a:t>
            </a:r>
            <a:endParaRPr lang="en-US" sz="1500" dirty="0"/>
          </a:p>
        </p:txBody>
      </p:sp>
      <p:sp>
        <p:nvSpPr>
          <p:cNvPr id="16" name="Shape 14"/>
          <p:cNvSpPr/>
          <p:nvPr/>
        </p:nvSpPr>
        <p:spPr>
          <a:xfrm>
            <a:off x="822960" y="3794760"/>
            <a:ext cx="4937760" cy="1371600"/>
          </a:xfrm>
          <a:prstGeom prst="roundRect">
            <a:avLst>
              <a:gd name="adj" fmla="val 8000"/>
            </a:avLst>
          </a:prstGeom>
          <a:solidFill>
            <a:srgbClr val="161C4D"/>
          </a:solidFill>
          <a:ln w="12700">
            <a:solidFill>
              <a:srgbClr val="4A6FE3"/>
            </a:solidFill>
            <a:prstDash val="solid"/>
          </a:ln>
        </p:spPr>
      </p:sp>
      <p:sp>
        <p:nvSpPr>
          <p:cNvPr id="17" name="Text 15"/>
          <p:cNvSpPr/>
          <p:nvPr/>
        </p:nvSpPr>
        <p:spPr>
          <a:xfrm>
            <a:off x="1051560" y="3931920"/>
            <a:ext cx="4480560" cy="274320"/>
          </a:xfrm>
          <a:prstGeom prst="rect">
            <a:avLst/>
          </a:prstGeom>
          <a:noFill/>
          <a:ln/>
        </p:spPr>
        <p:txBody>
          <a:bodyPr wrap="square" rtlCol="0" anchor="ctr"/>
          <a:lstStyle/>
          <a:p>
            <a:pPr marL="0" indent="0">
              <a:buNone/>
            </a:pPr>
            <a:r>
              <a:rPr lang="en-US" sz="1100" b="1" kern="0" spc="200" dirty="0">
                <a:solidFill>
                  <a:srgbClr val="00C2E0"/>
                </a:solidFill>
                <a:latin typeface="Calibri" pitchFamily="34" charset="0"/>
                <a:ea typeface="Calibri" pitchFamily="34" charset="-122"/>
                <a:cs typeface="Calibri" pitchFamily="34" charset="-120"/>
              </a:rPr>
              <a:t>TEAM TECHFUSION</a:t>
            </a:r>
            <a:endParaRPr lang="en-US" sz="1100" dirty="0"/>
          </a:p>
        </p:txBody>
      </p:sp>
      <p:sp>
        <p:nvSpPr>
          <p:cNvPr id="18" name="Text 16"/>
          <p:cNvSpPr/>
          <p:nvPr/>
        </p:nvSpPr>
        <p:spPr>
          <a:xfrm>
            <a:off x="1051560" y="4224528"/>
            <a:ext cx="448056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Chitvan Goel</a:t>
            </a:r>
            <a:endParaRPr lang="en-US" sz="1600" dirty="0"/>
          </a:p>
        </p:txBody>
      </p:sp>
      <p:sp>
        <p:nvSpPr>
          <p:cNvPr id="19" name="Text 17"/>
          <p:cNvSpPr/>
          <p:nvPr/>
        </p:nvSpPr>
        <p:spPr>
          <a:xfrm>
            <a:off x="1051560" y="4590288"/>
            <a:ext cx="448056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Sujal Bansal</a:t>
            </a:r>
            <a:endParaRPr lang="en-US" sz="1600" dirty="0"/>
          </a:p>
        </p:txBody>
      </p:sp>
      <p:sp>
        <p:nvSpPr>
          <p:cNvPr id="20" name="Text 18"/>
          <p:cNvSpPr/>
          <p:nvPr/>
        </p:nvSpPr>
        <p:spPr>
          <a:xfrm>
            <a:off x="822960" y="5486400"/>
            <a:ext cx="4572000" cy="274320"/>
          </a:xfrm>
          <a:prstGeom prst="rect">
            <a:avLst/>
          </a:prstGeom>
          <a:noFill/>
          <a:ln/>
        </p:spPr>
        <p:txBody>
          <a:bodyPr wrap="square" rtlCol="0" anchor="ctr"/>
          <a:lstStyle/>
          <a:p>
            <a:pPr marL="0" indent="0">
              <a:buNone/>
            </a:pPr>
            <a:r>
              <a:rPr lang="en-US" sz="1000" b="1" kern="0" spc="200" dirty="0">
                <a:solidFill>
                  <a:srgbClr val="8FA3E8"/>
                </a:solidFill>
                <a:latin typeface="Calibri" pitchFamily="34" charset="0"/>
                <a:ea typeface="Calibri" pitchFamily="34" charset="-122"/>
                <a:cs typeface="Calibri" pitchFamily="34" charset="-120"/>
              </a:rPr>
              <a:t>TECHNOLOGY HIGHLIGHTS</a:t>
            </a:r>
            <a:endParaRPr lang="en-US" sz="1000" dirty="0"/>
          </a:p>
        </p:txBody>
      </p:sp>
      <p:sp>
        <p:nvSpPr>
          <p:cNvPr id="21" name="Shape 19"/>
          <p:cNvSpPr/>
          <p:nvPr/>
        </p:nvSpPr>
        <p:spPr>
          <a:xfrm>
            <a:off x="1256843" y="5786780"/>
            <a:ext cx="502920" cy="502920"/>
          </a:xfrm>
          <a:prstGeom prst="ellipse">
            <a:avLst/>
          </a:prstGeom>
          <a:solidFill>
            <a:srgbClr val="161C4D"/>
          </a:solidFill>
          <a:ln/>
        </p:spPr>
      </p:sp>
      <p:pic>
        <p:nvPicPr>
          <p:cNvPr id="22" name="Image 0" descr="/home/claude/deck/icons/s3.png"/>
          <p:cNvPicPr>
            <a:picLocks noChangeAspect="1"/>
          </p:cNvPicPr>
          <p:nvPr/>
        </p:nvPicPr>
        <p:blipFill>
          <a:blip r:embed="rId3"/>
          <a:stretch>
            <a:fillRect/>
          </a:stretch>
        </p:blipFill>
        <p:spPr>
          <a:xfrm>
            <a:off x="1322223" y="5852160"/>
            <a:ext cx="372161" cy="372161"/>
          </a:xfrm>
          <a:prstGeom prst="rect">
            <a:avLst/>
          </a:prstGeom>
        </p:spPr>
      </p:pic>
      <p:sp>
        <p:nvSpPr>
          <p:cNvPr id="23" name="Text 20"/>
          <p:cNvSpPr/>
          <p:nvPr/>
        </p:nvSpPr>
        <p:spPr>
          <a:xfrm>
            <a:off x="502920" y="6355080"/>
            <a:ext cx="2011680" cy="274320"/>
          </a:xfrm>
          <a:prstGeom prst="rect">
            <a:avLst/>
          </a:prstGeom>
          <a:noFill/>
          <a:ln/>
        </p:spPr>
        <p:txBody>
          <a:bodyPr wrap="square"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Amazon S3</a:t>
            </a:r>
            <a:endParaRPr lang="en-US" sz="950" dirty="0"/>
          </a:p>
        </p:txBody>
      </p:sp>
      <p:sp>
        <p:nvSpPr>
          <p:cNvPr id="24" name="Shape 21"/>
          <p:cNvSpPr/>
          <p:nvPr/>
        </p:nvSpPr>
        <p:spPr>
          <a:xfrm>
            <a:off x="2728932" y="5770638"/>
            <a:ext cx="502920" cy="502920"/>
          </a:xfrm>
          <a:prstGeom prst="ellipse">
            <a:avLst/>
          </a:prstGeom>
          <a:solidFill>
            <a:srgbClr val="161C4D"/>
          </a:solidFill>
          <a:ln/>
        </p:spPr>
      </p:sp>
      <p:pic>
        <p:nvPicPr>
          <p:cNvPr id="25" name="Image 1" descr="/home/claude/deck/icons/lambda.png"/>
          <p:cNvPicPr>
            <a:picLocks noChangeAspect="1"/>
          </p:cNvPicPr>
          <p:nvPr/>
        </p:nvPicPr>
        <p:blipFill>
          <a:blip r:embed="rId3"/>
          <a:stretch>
            <a:fillRect/>
          </a:stretch>
        </p:blipFill>
        <p:spPr>
          <a:xfrm>
            <a:off x="2788920" y="5852159"/>
            <a:ext cx="372161" cy="372161"/>
          </a:xfrm>
          <a:prstGeom prst="rect">
            <a:avLst/>
          </a:prstGeom>
        </p:spPr>
      </p:pic>
      <p:sp>
        <p:nvSpPr>
          <p:cNvPr id="26" name="Text 22"/>
          <p:cNvSpPr/>
          <p:nvPr/>
        </p:nvSpPr>
        <p:spPr>
          <a:xfrm>
            <a:off x="1984248" y="6355080"/>
            <a:ext cx="2011680" cy="274320"/>
          </a:xfrm>
          <a:prstGeom prst="rect">
            <a:avLst/>
          </a:prstGeom>
          <a:noFill/>
          <a:ln/>
        </p:spPr>
        <p:txBody>
          <a:bodyPr wrap="square"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AWS Lambda</a:t>
            </a:r>
            <a:endParaRPr lang="en-US" sz="950" dirty="0"/>
          </a:p>
        </p:txBody>
      </p:sp>
      <p:sp>
        <p:nvSpPr>
          <p:cNvPr id="27" name="Shape 23"/>
          <p:cNvSpPr/>
          <p:nvPr/>
        </p:nvSpPr>
        <p:spPr>
          <a:xfrm>
            <a:off x="4295736" y="5792192"/>
            <a:ext cx="502920" cy="502920"/>
          </a:xfrm>
          <a:prstGeom prst="ellipse">
            <a:avLst/>
          </a:prstGeom>
          <a:solidFill>
            <a:srgbClr val="161C4D"/>
          </a:solidFill>
          <a:ln/>
        </p:spPr>
      </p:sp>
      <p:pic>
        <p:nvPicPr>
          <p:cNvPr id="28" name="Image 2" descr="/home/claude/deck/icons/python.png"/>
          <p:cNvPicPr>
            <a:picLocks noChangeAspect="1"/>
          </p:cNvPicPr>
          <p:nvPr/>
        </p:nvPicPr>
        <p:blipFill>
          <a:blip r:embed="rId4"/>
          <a:stretch>
            <a:fillRect/>
          </a:stretch>
        </p:blipFill>
        <p:spPr>
          <a:xfrm>
            <a:off x="4341019" y="5871819"/>
            <a:ext cx="372161" cy="372161"/>
          </a:xfrm>
          <a:prstGeom prst="rect">
            <a:avLst/>
          </a:prstGeom>
        </p:spPr>
      </p:pic>
      <p:sp>
        <p:nvSpPr>
          <p:cNvPr id="29" name="Text 24"/>
          <p:cNvSpPr/>
          <p:nvPr/>
        </p:nvSpPr>
        <p:spPr>
          <a:xfrm>
            <a:off x="3465576" y="6355080"/>
            <a:ext cx="2011680" cy="274320"/>
          </a:xfrm>
          <a:prstGeom prst="rect">
            <a:avLst/>
          </a:prstGeom>
          <a:noFill/>
          <a:ln/>
        </p:spPr>
        <p:txBody>
          <a:bodyPr wrap="square"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      Python / Pillow</a:t>
            </a:r>
            <a:endParaRPr lang="en-US" sz="950" dirty="0"/>
          </a:p>
        </p:txBody>
      </p:sp>
      <p:sp>
        <p:nvSpPr>
          <p:cNvPr id="30" name="Shape 25"/>
          <p:cNvSpPr/>
          <p:nvPr/>
        </p:nvSpPr>
        <p:spPr>
          <a:xfrm>
            <a:off x="5658459" y="5795572"/>
            <a:ext cx="502920" cy="502920"/>
          </a:xfrm>
          <a:prstGeom prst="ellipse">
            <a:avLst/>
          </a:prstGeom>
          <a:solidFill>
            <a:srgbClr val="161C4D"/>
          </a:solidFill>
          <a:ln/>
        </p:spPr>
      </p:sp>
      <p:pic>
        <p:nvPicPr>
          <p:cNvPr id="31" name="Image 3" descr="/home/claude/deck/icons/php.png"/>
          <p:cNvPicPr>
            <a:picLocks noChangeAspect="1"/>
          </p:cNvPicPr>
          <p:nvPr/>
        </p:nvPicPr>
        <p:blipFill>
          <a:blip r:embed="rId5"/>
          <a:stretch>
            <a:fillRect/>
          </a:stretch>
        </p:blipFill>
        <p:spPr>
          <a:xfrm>
            <a:off x="5723839" y="5879225"/>
            <a:ext cx="372161" cy="372161"/>
          </a:xfrm>
          <a:prstGeom prst="rect">
            <a:avLst/>
          </a:prstGeom>
        </p:spPr>
      </p:pic>
      <p:sp>
        <p:nvSpPr>
          <p:cNvPr id="32" name="Text 26"/>
          <p:cNvSpPr/>
          <p:nvPr/>
        </p:nvSpPr>
        <p:spPr>
          <a:xfrm>
            <a:off x="4946904" y="6355080"/>
            <a:ext cx="2011680" cy="274320"/>
          </a:xfrm>
          <a:prstGeom prst="rect">
            <a:avLst/>
          </a:prstGeom>
          <a:noFill/>
          <a:ln/>
        </p:spPr>
        <p:txBody>
          <a:bodyPr wrap="square"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PHP</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E"/>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4A6FE3"/>
                </a:solidFill>
                <a:latin typeface="Calibri" pitchFamily="34" charset="0"/>
                <a:ea typeface="Calibri" pitchFamily="34" charset="-122"/>
                <a:cs typeface="Calibri" pitchFamily="34" charset="-120"/>
              </a:rPr>
              <a:t>THE CHALLENGE</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Why Automatic Thumbnails Matter</a:t>
            </a:r>
            <a:endParaRPr lang="en-US" sz="3000" dirty="0"/>
          </a:p>
        </p:txBody>
      </p:sp>
      <p:sp>
        <p:nvSpPr>
          <p:cNvPr id="4" name="Shape 2"/>
          <p:cNvSpPr/>
          <p:nvPr/>
        </p:nvSpPr>
        <p:spPr>
          <a:xfrm>
            <a:off x="548640" y="1554480"/>
            <a:ext cx="5120640" cy="4480560"/>
          </a:xfrm>
          <a:prstGeom prst="roundRect">
            <a:avLst>
              <a:gd name="adj" fmla="val 2041"/>
            </a:avLst>
          </a:prstGeom>
          <a:solidFill>
            <a:srgbClr val="FFFFFF"/>
          </a:solidFill>
          <a:ln w="12700">
            <a:solidFill>
              <a:srgbClr val="E1E6F5"/>
            </a:solidFill>
            <a:prstDash val="solid"/>
          </a:ln>
        </p:spPr>
      </p:sp>
      <p:sp>
        <p:nvSpPr>
          <p:cNvPr id="5" name="Shape 3"/>
          <p:cNvSpPr/>
          <p:nvPr/>
        </p:nvSpPr>
        <p:spPr>
          <a:xfrm>
            <a:off x="822960" y="1828800"/>
            <a:ext cx="1554480" cy="457200"/>
          </a:xfrm>
          <a:prstGeom prst="roundRect">
            <a:avLst>
              <a:gd name="adj" fmla="val 50000"/>
            </a:avLst>
          </a:prstGeom>
          <a:solidFill>
            <a:srgbClr val="FDE8E8"/>
          </a:solidFill>
          <a:ln/>
        </p:spPr>
      </p:sp>
      <p:sp>
        <p:nvSpPr>
          <p:cNvPr id="6" name="Text 4"/>
          <p:cNvSpPr/>
          <p:nvPr/>
        </p:nvSpPr>
        <p:spPr>
          <a:xfrm>
            <a:off x="822960" y="1828800"/>
            <a:ext cx="1554480" cy="457200"/>
          </a:xfrm>
          <a:prstGeom prst="rect">
            <a:avLst/>
          </a:prstGeom>
          <a:noFill/>
          <a:ln/>
        </p:spPr>
        <p:txBody>
          <a:bodyPr wrap="square" rtlCol="0" anchor="ctr"/>
          <a:lstStyle/>
          <a:p>
            <a:pPr marL="0" indent="0" algn="ctr">
              <a:buNone/>
            </a:pPr>
            <a:r>
              <a:rPr lang="en-US" sz="1200" b="1" dirty="0">
                <a:solidFill>
                  <a:srgbClr val="C0392B"/>
                </a:solidFill>
                <a:latin typeface="Calibri" pitchFamily="34" charset="0"/>
                <a:ea typeface="Calibri" pitchFamily="34" charset="-122"/>
                <a:cs typeface="Calibri" pitchFamily="34" charset="-120"/>
              </a:rPr>
              <a:t>PROBLEM</a:t>
            </a:r>
            <a:endParaRPr lang="en-US" sz="1200" dirty="0"/>
          </a:p>
        </p:txBody>
      </p:sp>
      <p:sp>
        <p:nvSpPr>
          <p:cNvPr id="7" name="Shape 5"/>
          <p:cNvSpPr/>
          <p:nvPr/>
        </p:nvSpPr>
        <p:spPr>
          <a:xfrm>
            <a:off x="868680" y="2560320"/>
            <a:ext cx="128016" cy="128016"/>
          </a:xfrm>
          <a:prstGeom prst="ellipse">
            <a:avLst/>
          </a:prstGeom>
          <a:solidFill>
            <a:srgbClr val="C0392B"/>
          </a:solidFill>
          <a:ln/>
        </p:spPr>
      </p:sp>
      <p:sp>
        <p:nvSpPr>
          <p:cNvPr id="8" name="Text 6"/>
          <p:cNvSpPr/>
          <p:nvPr/>
        </p:nvSpPr>
        <p:spPr>
          <a:xfrm>
            <a:off x="1143000" y="2404872"/>
            <a:ext cx="4480560" cy="640080"/>
          </a:xfrm>
          <a:prstGeom prst="rect">
            <a:avLst/>
          </a:prstGeom>
          <a:noFill/>
          <a:ln/>
        </p:spPr>
        <p:txBody>
          <a:bodyPr wrap="square" rtlCol="0" anchor="t"/>
          <a:lstStyle/>
          <a:p>
            <a:pPr marL="0" indent="0">
              <a:buNone/>
            </a:pPr>
            <a:r>
              <a:rPr lang="en-US" sz="1350" dirty="0">
                <a:solidFill>
                  <a:srgbClr val="1B1F3B"/>
                </a:solidFill>
                <a:latin typeface="Calibri" pitchFamily="34" charset="0"/>
                <a:ea typeface="Calibri" pitchFamily="34" charset="-122"/>
                <a:cs typeface="Calibri" pitchFamily="34" charset="-120"/>
              </a:rPr>
              <a:t>Image-heavy applications need multiple image sizes for efficient display</a:t>
            </a:r>
            <a:endParaRPr lang="en-US" sz="1350" dirty="0"/>
          </a:p>
        </p:txBody>
      </p:sp>
      <p:sp>
        <p:nvSpPr>
          <p:cNvPr id="9" name="Shape 7"/>
          <p:cNvSpPr/>
          <p:nvPr/>
        </p:nvSpPr>
        <p:spPr>
          <a:xfrm>
            <a:off x="868680" y="3456432"/>
            <a:ext cx="128016" cy="128016"/>
          </a:xfrm>
          <a:prstGeom prst="ellipse">
            <a:avLst/>
          </a:prstGeom>
          <a:solidFill>
            <a:srgbClr val="C0392B"/>
          </a:solidFill>
          <a:ln/>
        </p:spPr>
      </p:sp>
      <p:sp>
        <p:nvSpPr>
          <p:cNvPr id="10" name="Text 8"/>
          <p:cNvSpPr/>
          <p:nvPr/>
        </p:nvSpPr>
        <p:spPr>
          <a:xfrm>
            <a:off x="1143000" y="3300984"/>
            <a:ext cx="4480560" cy="640080"/>
          </a:xfrm>
          <a:prstGeom prst="rect">
            <a:avLst/>
          </a:prstGeom>
          <a:noFill/>
          <a:ln/>
        </p:spPr>
        <p:txBody>
          <a:bodyPr wrap="square" rtlCol="0" anchor="t"/>
          <a:lstStyle/>
          <a:p>
            <a:pPr marL="0" indent="0">
              <a:buNone/>
            </a:pPr>
            <a:r>
              <a:rPr lang="en-US" sz="1350" dirty="0">
                <a:solidFill>
                  <a:srgbClr val="1B1F3B"/>
                </a:solidFill>
                <a:latin typeface="Calibri" pitchFamily="34" charset="0"/>
                <a:ea typeface="Calibri" pitchFamily="34" charset="-122"/>
                <a:cs typeface="Calibri" pitchFamily="34" charset="-120"/>
              </a:rPr>
              <a:t>Large original images consume excess storage and bandwidth</a:t>
            </a:r>
            <a:endParaRPr lang="en-US" sz="1350" dirty="0"/>
          </a:p>
        </p:txBody>
      </p:sp>
      <p:sp>
        <p:nvSpPr>
          <p:cNvPr id="11" name="Shape 9"/>
          <p:cNvSpPr/>
          <p:nvPr/>
        </p:nvSpPr>
        <p:spPr>
          <a:xfrm>
            <a:off x="868680" y="4352544"/>
            <a:ext cx="128016" cy="128016"/>
          </a:xfrm>
          <a:prstGeom prst="ellipse">
            <a:avLst/>
          </a:prstGeom>
          <a:solidFill>
            <a:srgbClr val="C0392B"/>
          </a:solidFill>
          <a:ln/>
        </p:spPr>
      </p:sp>
      <p:sp>
        <p:nvSpPr>
          <p:cNvPr id="12" name="Text 10"/>
          <p:cNvSpPr/>
          <p:nvPr/>
        </p:nvSpPr>
        <p:spPr>
          <a:xfrm>
            <a:off x="1143000" y="4197096"/>
            <a:ext cx="4480560" cy="640080"/>
          </a:xfrm>
          <a:prstGeom prst="rect">
            <a:avLst/>
          </a:prstGeom>
          <a:noFill/>
          <a:ln/>
        </p:spPr>
        <p:txBody>
          <a:bodyPr wrap="square" rtlCol="0" anchor="t"/>
          <a:lstStyle/>
          <a:p>
            <a:pPr marL="0" indent="0">
              <a:buNone/>
            </a:pPr>
            <a:r>
              <a:rPr lang="en-US" sz="1350" dirty="0">
                <a:solidFill>
                  <a:srgbClr val="1B1F3B"/>
                </a:solidFill>
                <a:latin typeface="Calibri" pitchFamily="34" charset="0"/>
                <a:ea typeface="Calibri" pitchFamily="34" charset="-122"/>
                <a:cs typeface="Calibri" pitchFamily="34" charset="-120"/>
              </a:rPr>
              <a:t>Manually creating thumbnails is repetitive and inefficient</a:t>
            </a:r>
            <a:endParaRPr lang="en-US" sz="1350" dirty="0"/>
          </a:p>
        </p:txBody>
      </p:sp>
      <p:sp>
        <p:nvSpPr>
          <p:cNvPr id="13" name="Shape 11"/>
          <p:cNvSpPr/>
          <p:nvPr/>
        </p:nvSpPr>
        <p:spPr>
          <a:xfrm>
            <a:off x="868680" y="5248656"/>
            <a:ext cx="128016" cy="128016"/>
          </a:xfrm>
          <a:prstGeom prst="ellipse">
            <a:avLst/>
          </a:prstGeom>
          <a:solidFill>
            <a:srgbClr val="C0392B"/>
          </a:solidFill>
          <a:ln/>
        </p:spPr>
      </p:sp>
      <p:sp>
        <p:nvSpPr>
          <p:cNvPr id="14" name="Text 12"/>
          <p:cNvSpPr/>
          <p:nvPr/>
        </p:nvSpPr>
        <p:spPr>
          <a:xfrm>
            <a:off x="1143000" y="5093208"/>
            <a:ext cx="4480560" cy="640080"/>
          </a:xfrm>
          <a:prstGeom prst="rect">
            <a:avLst/>
          </a:prstGeom>
          <a:noFill/>
          <a:ln/>
        </p:spPr>
        <p:txBody>
          <a:bodyPr wrap="square" rtlCol="0" anchor="t"/>
          <a:lstStyle/>
          <a:p>
            <a:pPr marL="0" indent="0">
              <a:buNone/>
            </a:pPr>
            <a:r>
              <a:rPr lang="en-US" sz="1350" dirty="0">
                <a:solidFill>
                  <a:srgbClr val="1B1F3B"/>
                </a:solidFill>
                <a:latin typeface="Calibri" pitchFamily="34" charset="0"/>
                <a:ea typeface="Calibri" pitchFamily="34" charset="-122"/>
                <a:cs typeface="Calibri" pitchFamily="34" charset="-120"/>
              </a:rPr>
              <a:t>Image processing adds workload to the main application server</a:t>
            </a:r>
            <a:endParaRPr lang="en-US" sz="1350" dirty="0"/>
          </a:p>
        </p:txBody>
      </p:sp>
      <p:sp>
        <p:nvSpPr>
          <p:cNvPr id="15" name="Shape 13"/>
          <p:cNvSpPr/>
          <p:nvPr/>
        </p:nvSpPr>
        <p:spPr>
          <a:xfrm>
            <a:off x="5870448" y="3566160"/>
            <a:ext cx="457200" cy="457200"/>
          </a:xfrm>
          <a:prstGeom prst="ellipse">
            <a:avLst/>
          </a:prstGeom>
          <a:solidFill>
            <a:srgbClr val="E6ECFB"/>
          </a:solidFill>
          <a:ln/>
        </p:spPr>
      </p:sp>
      <p:pic>
        <p:nvPicPr>
          <p:cNvPr id="16" name="Image 0" descr="/home/claude/deck/icons/arrowright.png"/>
          <p:cNvPicPr>
            <a:picLocks noChangeAspect="1"/>
          </p:cNvPicPr>
          <p:nvPr/>
        </p:nvPicPr>
        <p:blipFill>
          <a:blip r:embed="rId3"/>
          <a:stretch>
            <a:fillRect/>
          </a:stretch>
        </p:blipFill>
        <p:spPr>
          <a:xfrm>
            <a:off x="5929884" y="3625596"/>
            <a:ext cx="338328" cy="338328"/>
          </a:xfrm>
          <a:prstGeom prst="rect">
            <a:avLst/>
          </a:prstGeom>
        </p:spPr>
      </p:pic>
      <p:sp>
        <p:nvSpPr>
          <p:cNvPr id="17" name="Shape 14"/>
          <p:cNvSpPr/>
          <p:nvPr/>
        </p:nvSpPr>
        <p:spPr>
          <a:xfrm>
            <a:off x="6492240" y="1554480"/>
            <a:ext cx="5120640" cy="4480560"/>
          </a:xfrm>
          <a:prstGeom prst="roundRect">
            <a:avLst>
              <a:gd name="adj" fmla="val 2041"/>
            </a:avLst>
          </a:prstGeom>
          <a:solidFill>
            <a:srgbClr val="1E2761"/>
          </a:solidFill>
          <a:ln/>
        </p:spPr>
      </p:sp>
      <p:sp>
        <p:nvSpPr>
          <p:cNvPr id="18" name="Shape 15"/>
          <p:cNvSpPr/>
          <p:nvPr/>
        </p:nvSpPr>
        <p:spPr>
          <a:xfrm>
            <a:off x="6766560" y="1828800"/>
            <a:ext cx="1371600" cy="457200"/>
          </a:xfrm>
          <a:prstGeom prst="roundRect">
            <a:avLst>
              <a:gd name="adj" fmla="val 50000"/>
            </a:avLst>
          </a:prstGeom>
          <a:solidFill>
            <a:srgbClr val="161C4D"/>
          </a:solidFill>
          <a:ln/>
        </p:spPr>
      </p:sp>
      <p:sp>
        <p:nvSpPr>
          <p:cNvPr id="19" name="Text 16"/>
          <p:cNvSpPr/>
          <p:nvPr/>
        </p:nvSpPr>
        <p:spPr>
          <a:xfrm>
            <a:off x="6766560" y="1828800"/>
            <a:ext cx="1371600" cy="457200"/>
          </a:xfrm>
          <a:prstGeom prst="rect">
            <a:avLst/>
          </a:prstGeom>
          <a:noFill/>
          <a:ln/>
        </p:spPr>
        <p:txBody>
          <a:bodyPr wrap="square" rtlCol="0" anchor="ctr"/>
          <a:lstStyle/>
          <a:p>
            <a:pPr marL="0" indent="0" algn="ctr">
              <a:buNone/>
            </a:pPr>
            <a:r>
              <a:rPr lang="en-US" sz="1200" b="1" dirty="0">
                <a:solidFill>
                  <a:srgbClr val="00C2E0"/>
                </a:solidFill>
                <a:latin typeface="Calibri" pitchFamily="34" charset="0"/>
                <a:ea typeface="Calibri" pitchFamily="34" charset="-122"/>
                <a:cs typeface="Calibri" pitchFamily="34" charset="-120"/>
              </a:rPr>
              <a:t>NEED</a:t>
            </a:r>
            <a:endParaRPr lang="en-US" sz="1200" dirty="0"/>
          </a:p>
        </p:txBody>
      </p:sp>
      <p:sp>
        <p:nvSpPr>
          <p:cNvPr id="20" name="Text 17"/>
          <p:cNvSpPr/>
          <p:nvPr/>
        </p:nvSpPr>
        <p:spPr>
          <a:xfrm>
            <a:off x="6766560" y="2514600"/>
            <a:ext cx="4572000" cy="1188720"/>
          </a:xfrm>
          <a:prstGeom prst="rect">
            <a:avLst/>
          </a:prstGeom>
          <a:noFill/>
          <a:ln/>
        </p:spPr>
        <p:txBody>
          <a:bodyPr wrap="square" rtlCol="0" anchor="t"/>
          <a:lstStyle/>
          <a:p>
            <a:pPr marL="0" indent="0">
              <a:buNone/>
            </a:pPr>
            <a:r>
              <a:rPr lang="en-US" sz="1500" dirty="0">
                <a:solidFill>
                  <a:srgbClr val="FFFFFF"/>
                </a:solidFill>
                <a:latin typeface="Calibri" pitchFamily="34" charset="0"/>
                <a:ea typeface="Calibri" pitchFamily="34" charset="-122"/>
                <a:cs typeface="Calibri" pitchFamily="34" charset="-120"/>
              </a:rPr>
              <a:t>A scalable, automated solution that generates thumbnails without burdening the application server.</a:t>
            </a:r>
            <a:endParaRPr lang="en-US" sz="1500" dirty="0"/>
          </a:p>
        </p:txBody>
      </p:sp>
      <p:sp>
        <p:nvSpPr>
          <p:cNvPr id="21" name="Shape 18"/>
          <p:cNvSpPr/>
          <p:nvPr/>
        </p:nvSpPr>
        <p:spPr>
          <a:xfrm>
            <a:off x="6766560" y="3794760"/>
            <a:ext cx="365760" cy="365760"/>
          </a:xfrm>
          <a:prstGeom prst="ellipse">
            <a:avLst/>
          </a:prstGeom>
          <a:solidFill>
            <a:srgbClr val="161C4D"/>
          </a:solidFill>
          <a:ln/>
        </p:spPr>
      </p:sp>
      <p:pic>
        <p:nvPicPr>
          <p:cNvPr id="22" name="Image 1" descr="/home/claude/deck/icons/check.png"/>
          <p:cNvPicPr>
            <a:picLocks noChangeAspect="1"/>
          </p:cNvPicPr>
          <p:nvPr/>
        </p:nvPicPr>
        <p:blipFill>
          <a:blip r:embed="rId4"/>
          <a:stretch>
            <a:fillRect/>
          </a:stretch>
        </p:blipFill>
        <p:spPr>
          <a:xfrm>
            <a:off x="6814109" y="3842309"/>
            <a:ext cx="270662" cy="270662"/>
          </a:xfrm>
          <a:prstGeom prst="rect">
            <a:avLst/>
          </a:prstGeom>
        </p:spPr>
      </p:pic>
      <p:sp>
        <p:nvSpPr>
          <p:cNvPr id="23" name="Text 19"/>
          <p:cNvSpPr/>
          <p:nvPr/>
        </p:nvSpPr>
        <p:spPr>
          <a:xfrm>
            <a:off x="7269480" y="3813048"/>
            <a:ext cx="411480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Offload processing to the cloud</a:t>
            </a:r>
            <a:endParaRPr lang="en-US" sz="1300" dirty="0"/>
          </a:p>
        </p:txBody>
      </p:sp>
      <p:sp>
        <p:nvSpPr>
          <p:cNvPr id="24" name="Shape 20"/>
          <p:cNvSpPr/>
          <p:nvPr/>
        </p:nvSpPr>
        <p:spPr>
          <a:xfrm>
            <a:off x="6766560" y="4297680"/>
            <a:ext cx="365760" cy="365760"/>
          </a:xfrm>
          <a:prstGeom prst="ellipse">
            <a:avLst/>
          </a:prstGeom>
          <a:solidFill>
            <a:srgbClr val="161C4D"/>
          </a:solidFill>
          <a:ln/>
        </p:spPr>
      </p:sp>
      <p:pic>
        <p:nvPicPr>
          <p:cNvPr id="25" name="Image 2" descr="/home/claude/deck/icons/check.png"/>
          <p:cNvPicPr>
            <a:picLocks noChangeAspect="1"/>
          </p:cNvPicPr>
          <p:nvPr/>
        </p:nvPicPr>
        <p:blipFill>
          <a:blip r:embed="rId4"/>
          <a:stretch>
            <a:fillRect/>
          </a:stretch>
        </p:blipFill>
        <p:spPr>
          <a:xfrm>
            <a:off x="6814109" y="4345229"/>
            <a:ext cx="270662" cy="270662"/>
          </a:xfrm>
          <a:prstGeom prst="rect">
            <a:avLst/>
          </a:prstGeom>
        </p:spPr>
      </p:pic>
      <p:sp>
        <p:nvSpPr>
          <p:cNvPr id="26" name="Text 21"/>
          <p:cNvSpPr/>
          <p:nvPr/>
        </p:nvSpPr>
        <p:spPr>
          <a:xfrm>
            <a:off x="7269480" y="4315968"/>
            <a:ext cx="411480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Scale automatically with demand</a:t>
            </a:r>
            <a:endParaRPr lang="en-US" sz="1300" dirty="0"/>
          </a:p>
        </p:txBody>
      </p:sp>
      <p:sp>
        <p:nvSpPr>
          <p:cNvPr id="27" name="Shape 22"/>
          <p:cNvSpPr/>
          <p:nvPr/>
        </p:nvSpPr>
        <p:spPr>
          <a:xfrm>
            <a:off x="6766560" y="4800600"/>
            <a:ext cx="365760" cy="365760"/>
          </a:xfrm>
          <a:prstGeom prst="ellipse">
            <a:avLst/>
          </a:prstGeom>
          <a:solidFill>
            <a:srgbClr val="161C4D"/>
          </a:solidFill>
          <a:ln/>
        </p:spPr>
      </p:sp>
      <p:pic>
        <p:nvPicPr>
          <p:cNvPr id="28" name="Image 3" descr="/home/claude/deck/icons/check.png"/>
          <p:cNvPicPr>
            <a:picLocks noChangeAspect="1"/>
          </p:cNvPicPr>
          <p:nvPr/>
        </p:nvPicPr>
        <p:blipFill>
          <a:blip r:embed="rId4"/>
          <a:stretch>
            <a:fillRect/>
          </a:stretch>
        </p:blipFill>
        <p:spPr>
          <a:xfrm>
            <a:off x="6814109" y="4848149"/>
            <a:ext cx="270662" cy="270662"/>
          </a:xfrm>
          <a:prstGeom prst="rect">
            <a:avLst/>
          </a:prstGeom>
        </p:spPr>
      </p:pic>
      <p:sp>
        <p:nvSpPr>
          <p:cNvPr id="29" name="Text 23"/>
          <p:cNvSpPr/>
          <p:nvPr/>
        </p:nvSpPr>
        <p:spPr>
          <a:xfrm>
            <a:off x="7269480" y="4818888"/>
            <a:ext cx="411480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Keep storage and bandwidth costs low</a:t>
            </a:r>
            <a:endParaRPr lang="en-US" sz="1300" dirty="0"/>
          </a:p>
        </p:txBody>
      </p:sp>
      <p:sp>
        <p:nvSpPr>
          <p:cNvPr id="30" name="Shape 24"/>
          <p:cNvSpPr/>
          <p:nvPr/>
        </p:nvSpPr>
        <p:spPr>
          <a:xfrm>
            <a:off x="6766560" y="5303520"/>
            <a:ext cx="365760" cy="365760"/>
          </a:xfrm>
          <a:prstGeom prst="ellipse">
            <a:avLst/>
          </a:prstGeom>
          <a:solidFill>
            <a:srgbClr val="161C4D"/>
          </a:solidFill>
          <a:ln/>
        </p:spPr>
      </p:sp>
      <p:pic>
        <p:nvPicPr>
          <p:cNvPr id="31" name="Image 4" descr="/home/claude/deck/icons/check.png"/>
          <p:cNvPicPr>
            <a:picLocks noChangeAspect="1"/>
          </p:cNvPicPr>
          <p:nvPr/>
        </p:nvPicPr>
        <p:blipFill>
          <a:blip r:embed="rId4"/>
          <a:stretch>
            <a:fillRect/>
          </a:stretch>
        </p:blipFill>
        <p:spPr>
          <a:xfrm>
            <a:off x="6814109" y="5351069"/>
            <a:ext cx="270662" cy="270662"/>
          </a:xfrm>
          <a:prstGeom prst="rect">
            <a:avLst/>
          </a:prstGeom>
        </p:spPr>
      </p:pic>
      <p:sp>
        <p:nvSpPr>
          <p:cNvPr id="32" name="Text 25"/>
          <p:cNvSpPr/>
          <p:nvPr/>
        </p:nvSpPr>
        <p:spPr>
          <a:xfrm>
            <a:off x="7269480" y="5321808"/>
            <a:ext cx="411480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Preserve original image quality</a:t>
            </a:r>
            <a:endParaRPr lang="en-US" sz="1300" dirty="0"/>
          </a:p>
        </p:txBody>
      </p:sp>
      <p:sp>
        <p:nvSpPr>
          <p:cNvPr id="33" name="Text 26"/>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5C6280"/>
                </a:solidFill>
                <a:latin typeface="Calibri" pitchFamily="34" charset="0"/>
                <a:ea typeface="Calibri" pitchFamily="34" charset="-122"/>
                <a:cs typeface="Calibri" pitchFamily="34" charset="-120"/>
              </a:rPr>
              <a:t>Problem Statement</a:t>
            </a:r>
            <a:endParaRPr lang="en-US" sz="900" dirty="0"/>
          </a:p>
        </p:txBody>
      </p:sp>
      <p:sp>
        <p:nvSpPr>
          <p:cNvPr id="34" name="Text 27"/>
          <p:cNvSpPr/>
          <p:nvPr/>
        </p:nvSpPr>
        <p:spPr>
          <a:xfrm>
            <a:off x="9445752" y="6528816"/>
            <a:ext cx="2286000" cy="274320"/>
          </a:xfrm>
          <a:prstGeom prst="rect">
            <a:avLst/>
          </a:prstGeom>
          <a:noFill/>
          <a:ln/>
        </p:spPr>
        <p:txBody>
          <a:bodyPr wrap="square" rtlCol="0" anchor="ctr"/>
          <a:lstStyle/>
          <a:p>
            <a:pPr marL="0" indent="0" algn="r">
              <a:buNone/>
            </a:pPr>
            <a:r>
              <a:rPr lang="en-US" sz="900" dirty="0">
                <a:solidFill>
                  <a:srgbClr val="5C6280"/>
                </a:solidFill>
                <a:latin typeface="Calibri" pitchFamily="34" charset="0"/>
                <a:ea typeface="Calibri" pitchFamily="34" charset="-122"/>
                <a:cs typeface="Calibri" pitchFamily="34" charset="-120"/>
              </a:rPr>
              <a:t>TechFusion  |  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E"/>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4A6FE3"/>
                </a:solidFill>
                <a:latin typeface="Calibri" pitchFamily="34" charset="0"/>
                <a:ea typeface="Calibri" pitchFamily="34" charset="-122"/>
                <a:cs typeface="Calibri" pitchFamily="34" charset="-120"/>
              </a:rPr>
              <a:t>OUR APPROACH</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An Automated, Cloud-Based Thumbnail Pipeline</a:t>
            </a:r>
            <a:endParaRPr lang="en-US" sz="3000" dirty="0"/>
          </a:p>
        </p:txBody>
      </p:sp>
      <p:sp>
        <p:nvSpPr>
          <p:cNvPr id="4" name="Text 2"/>
          <p:cNvSpPr/>
          <p:nvPr/>
        </p:nvSpPr>
        <p:spPr>
          <a:xfrm>
            <a:off x="548640" y="1234440"/>
            <a:ext cx="10515600" cy="365760"/>
          </a:xfrm>
          <a:prstGeom prst="rect">
            <a:avLst/>
          </a:prstGeom>
          <a:noFill/>
          <a:ln/>
        </p:spPr>
        <p:txBody>
          <a:bodyPr wrap="square" rtlCol="0" anchor="ctr"/>
          <a:lstStyle/>
          <a:p>
            <a:pPr marL="0" indent="0">
              <a:buNone/>
            </a:pPr>
            <a:r>
              <a:rPr lang="en-US" sz="1350" dirty="0">
                <a:solidFill>
                  <a:srgbClr val="5C6280"/>
                </a:solidFill>
                <a:latin typeface="Calibri" pitchFamily="34" charset="0"/>
                <a:ea typeface="Calibri" pitchFamily="34" charset="-122"/>
                <a:cs typeface="Calibri" pitchFamily="34" charset="-120"/>
              </a:rPr>
              <a:t>The user uploads an image once — the cloud handles validation, storage, processing, and delivery automatically.</a:t>
            </a:r>
            <a:endParaRPr lang="en-US" sz="1350" dirty="0"/>
          </a:p>
        </p:txBody>
      </p:sp>
      <p:sp>
        <p:nvSpPr>
          <p:cNvPr id="5" name="Shape 3"/>
          <p:cNvSpPr/>
          <p:nvPr/>
        </p:nvSpPr>
        <p:spPr>
          <a:xfrm>
            <a:off x="653796" y="2468880"/>
            <a:ext cx="1600200" cy="2286000"/>
          </a:xfrm>
          <a:prstGeom prst="roundRect">
            <a:avLst>
              <a:gd name="adj" fmla="val 6857"/>
            </a:avLst>
          </a:prstGeom>
          <a:solidFill>
            <a:srgbClr val="FFFFFF"/>
          </a:solidFill>
          <a:ln w="12700">
            <a:solidFill>
              <a:srgbClr val="E1E6F5"/>
            </a:solidFill>
            <a:prstDash val="solid"/>
          </a:ln>
          <a:effectLst>
            <a:outerShdw blurRad="76200" dist="25400" dir="5400000" algn="bl" rotWithShape="0">
              <a:srgbClr val="999999">
                <a:alpha val="18000"/>
              </a:srgbClr>
            </a:outerShdw>
          </a:effectLst>
        </p:spPr>
      </p:sp>
      <p:sp>
        <p:nvSpPr>
          <p:cNvPr id="6" name="Shape 4"/>
          <p:cNvSpPr/>
          <p:nvPr/>
        </p:nvSpPr>
        <p:spPr>
          <a:xfrm>
            <a:off x="1133856" y="2743200"/>
            <a:ext cx="640080" cy="640080"/>
          </a:xfrm>
          <a:prstGeom prst="ellipse">
            <a:avLst/>
          </a:prstGeom>
          <a:solidFill>
            <a:srgbClr val="4A6FE3"/>
          </a:solidFill>
          <a:ln/>
        </p:spPr>
      </p:sp>
      <p:pic>
        <p:nvPicPr>
          <p:cNvPr id="7" name="Image 0" descr="/home/claude/deck/icons/browser.png"/>
          <p:cNvPicPr>
            <a:picLocks noChangeAspect="1"/>
          </p:cNvPicPr>
          <p:nvPr/>
        </p:nvPicPr>
        <p:blipFill>
          <a:blip r:embed="rId3"/>
          <a:stretch>
            <a:fillRect/>
          </a:stretch>
        </p:blipFill>
        <p:spPr>
          <a:xfrm>
            <a:off x="1217066" y="2826410"/>
            <a:ext cx="473659" cy="473659"/>
          </a:xfrm>
          <a:prstGeom prst="rect">
            <a:avLst/>
          </a:prstGeom>
        </p:spPr>
      </p:pic>
      <p:sp>
        <p:nvSpPr>
          <p:cNvPr id="8" name="Text 5"/>
          <p:cNvSpPr/>
          <p:nvPr/>
        </p:nvSpPr>
        <p:spPr>
          <a:xfrm>
            <a:off x="726948" y="2542032"/>
            <a:ext cx="365760" cy="274320"/>
          </a:xfrm>
          <a:prstGeom prst="rect">
            <a:avLst/>
          </a:prstGeom>
          <a:noFill/>
          <a:ln/>
        </p:spPr>
        <p:txBody>
          <a:bodyPr wrap="square" rtlCol="0" anchor="ctr"/>
          <a:lstStyle/>
          <a:p>
            <a:pPr marL="0" indent="0">
              <a:buNone/>
            </a:pPr>
            <a:r>
              <a:rPr lang="en-US" sz="1100" b="1" dirty="0">
                <a:solidFill>
                  <a:srgbClr val="5C6280"/>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726948" y="3520440"/>
            <a:ext cx="1453896" cy="1097280"/>
          </a:xfrm>
          <a:prstGeom prst="rect">
            <a:avLst/>
          </a:prstGeom>
          <a:noFill/>
          <a:ln/>
        </p:spPr>
        <p:txBody>
          <a:bodyPr wrap="square" rtlCol="0" anchor="t"/>
          <a:lstStyle/>
          <a:p>
            <a:pPr marL="0" indent="0" algn="ctr">
              <a:buNone/>
            </a:pPr>
            <a:r>
              <a:rPr lang="en-US" sz="1150" dirty="0">
                <a:solidFill>
                  <a:srgbClr val="1B1F3B"/>
                </a:solidFill>
                <a:latin typeface="Calibri" pitchFamily="34" charset="0"/>
                <a:ea typeface="Calibri" pitchFamily="34" charset="-122"/>
                <a:cs typeface="Calibri" pitchFamily="34" charset="-120"/>
              </a:rPr>
              <a:t>User uploads</a:t>
            </a:r>
            <a:endParaRPr lang="en-US" sz="1150" dirty="0"/>
          </a:p>
          <a:p>
            <a:pPr marL="0" indent="0" algn="ctr">
              <a:buNone/>
            </a:pPr>
            <a:r>
              <a:rPr lang="en-US" sz="1150" dirty="0">
                <a:solidFill>
                  <a:srgbClr val="1B1F3B"/>
                </a:solidFill>
                <a:latin typeface="Calibri" pitchFamily="34" charset="0"/>
                <a:ea typeface="Calibri" pitchFamily="34" charset="-122"/>
                <a:cs typeface="Calibri" pitchFamily="34" charset="-120"/>
              </a:rPr>
              <a:t>an image</a:t>
            </a:r>
            <a:endParaRPr lang="en-US" sz="1150" dirty="0"/>
          </a:p>
        </p:txBody>
      </p:sp>
      <p:sp>
        <p:nvSpPr>
          <p:cNvPr id="10" name="Shape 7"/>
          <p:cNvSpPr/>
          <p:nvPr/>
        </p:nvSpPr>
        <p:spPr>
          <a:xfrm>
            <a:off x="2244852" y="3474720"/>
            <a:ext cx="274320" cy="274320"/>
          </a:xfrm>
          <a:prstGeom prst="ellipse">
            <a:avLst/>
          </a:prstGeom>
          <a:solidFill>
            <a:srgbClr val="E6ECFB"/>
          </a:solidFill>
          <a:ln/>
        </p:spPr>
      </p:sp>
      <p:pic>
        <p:nvPicPr>
          <p:cNvPr id="11" name="Image 1" descr="/home/claude/deck/icons/arrowright.png"/>
          <p:cNvPicPr>
            <a:picLocks noChangeAspect="1"/>
          </p:cNvPicPr>
          <p:nvPr/>
        </p:nvPicPr>
        <p:blipFill>
          <a:blip r:embed="rId4"/>
          <a:stretch>
            <a:fillRect/>
          </a:stretch>
        </p:blipFill>
        <p:spPr>
          <a:xfrm>
            <a:off x="2280514" y="3510382"/>
            <a:ext cx="202997" cy="202997"/>
          </a:xfrm>
          <a:prstGeom prst="rect">
            <a:avLst/>
          </a:prstGeom>
        </p:spPr>
      </p:pic>
      <p:sp>
        <p:nvSpPr>
          <p:cNvPr id="12" name="Shape 8"/>
          <p:cNvSpPr/>
          <p:nvPr/>
        </p:nvSpPr>
        <p:spPr>
          <a:xfrm>
            <a:off x="2510028" y="2468880"/>
            <a:ext cx="1600200" cy="2286000"/>
          </a:xfrm>
          <a:prstGeom prst="roundRect">
            <a:avLst>
              <a:gd name="adj" fmla="val 6857"/>
            </a:avLst>
          </a:prstGeom>
          <a:solidFill>
            <a:srgbClr val="FFFFFF"/>
          </a:solidFill>
          <a:ln w="12700">
            <a:solidFill>
              <a:srgbClr val="E1E6F5"/>
            </a:solidFill>
            <a:prstDash val="solid"/>
          </a:ln>
          <a:effectLst>
            <a:outerShdw blurRad="76200" dist="25400" dir="5400000" algn="bl" rotWithShape="0">
              <a:srgbClr val="999999">
                <a:alpha val="18000"/>
              </a:srgbClr>
            </a:outerShdw>
          </a:effectLst>
        </p:spPr>
      </p:sp>
      <p:sp>
        <p:nvSpPr>
          <p:cNvPr id="13" name="Shape 9"/>
          <p:cNvSpPr/>
          <p:nvPr/>
        </p:nvSpPr>
        <p:spPr>
          <a:xfrm>
            <a:off x="2990088" y="2743200"/>
            <a:ext cx="640080" cy="640080"/>
          </a:xfrm>
          <a:prstGeom prst="ellipse">
            <a:avLst/>
          </a:prstGeom>
          <a:solidFill>
            <a:srgbClr val="FF9900"/>
          </a:solidFill>
          <a:ln/>
        </p:spPr>
      </p:sp>
      <p:pic>
        <p:nvPicPr>
          <p:cNvPr id="14" name="Image 2" descr="/home/claude/deck/icons/s3.png"/>
          <p:cNvPicPr>
            <a:picLocks noChangeAspect="1"/>
          </p:cNvPicPr>
          <p:nvPr/>
        </p:nvPicPr>
        <p:blipFill>
          <a:blip r:embed="rId5"/>
          <a:stretch>
            <a:fillRect/>
          </a:stretch>
        </p:blipFill>
        <p:spPr>
          <a:xfrm>
            <a:off x="3073298" y="2826410"/>
            <a:ext cx="473659" cy="473659"/>
          </a:xfrm>
          <a:prstGeom prst="rect">
            <a:avLst/>
          </a:prstGeom>
        </p:spPr>
      </p:pic>
      <p:sp>
        <p:nvSpPr>
          <p:cNvPr id="15" name="Text 10"/>
          <p:cNvSpPr/>
          <p:nvPr/>
        </p:nvSpPr>
        <p:spPr>
          <a:xfrm>
            <a:off x="2583180" y="2542032"/>
            <a:ext cx="365760" cy="274320"/>
          </a:xfrm>
          <a:prstGeom prst="rect">
            <a:avLst/>
          </a:prstGeom>
          <a:noFill/>
          <a:ln/>
        </p:spPr>
        <p:txBody>
          <a:bodyPr wrap="square" rtlCol="0" anchor="ctr"/>
          <a:lstStyle/>
          <a:p>
            <a:pPr marL="0" indent="0">
              <a:buNone/>
            </a:pPr>
            <a:r>
              <a:rPr lang="en-US" sz="1100" b="1" dirty="0">
                <a:solidFill>
                  <a:srgbClr val="5C6280"/>
                </a:solidFill>
                <a:latin typeface="Calibri" pitchFamily="34" charset="0"/>
                <a:ea typeface="Calibri" pitchFamily="34" charset="-122"/>
                <a:cs typeface="Calibri" pitchFamily="34" charset="-120"/>
              </a:rPr>
              <a:t>2</a:t>
            </a:r>
            <a:endParaRPr lang="en-US" sz="1100" dirty="0"/>
          </a:p>
        </p:txBody>
      </p:sp>
      <p:sp>
        <p:nvSpPr>
          <p:cNvPr id="16" name="Text 11"/>
          <p:cNvSpPr/>
          <p:nvPr/>
        </p:nvSpPr>
        <p:spPr>
          <a:xfrm>
            <a:off x="2583180" y="3520440"/>
            <a:ext cx="1453896" cy="1097280"/>
          </a:xfrm>
          <a:prstGeom prst="rect">
            <a:avLst/>
          </a:prstGeom>
          <a:noFill/>
          <a:ln/>
        </p:spPr>
        <p:txBody>
          <a:bodyPr wrap="square" rtlCol="0" anchor="t"/>
          <a:lstStyle/>
          <a:p>
            <a:pPr marL="0" indent="0" algn="ctr">
              <a:buNone/>
            </a:pPr>
            <a:r>
              <a:rPr lang="en-US" sz="1150" dirty="0">
                <a:solidFill>
                  <a:srgbClr val="1B1F3B"/>
                </a:solidFill>
                <a:latin typeface="Calibri" pitchFamily="34" charset="0"/>
                <a:ea typeface="Calibri" pitchFamily="34" charset="-122"/>
                <a:cs typeface="Calibri" pitchFamily="34" charset="-120"/>
              </a:rPr>
              <a:t>Stored securely</a:t>
            </a:r>
            <a:endParaRPr lang="en-US" sz="1150" dirty="0"/>
          </a:p>
          <a:p>
            <a:pPr marL="0" indent="0" algn="ctr">
              <a:buNone/>
            </a:pPr>
            <a:r>
              <a:rPr lang="en-US" sz="1150" dirty="0">
                <a:solidFill>
                  <a:srgbClr val="1B1F3B"/>
                </a:solidFill>
                <a:latin typeface="Calibri" pitchFamily="34" charset="0"/>
                <a:ea typeface="Calibri" pitchFamily="34" charset="-122"/>
                <a:cs typeface="Calibri" pitchFamily="34" charset="-120"/>
              </a:rPr>
              <a:t>in Amazon S3</a:t>
            </a:r>
            <a:endParaRPr lang="en-US" sz="1150" dirty="0"/>
          </a:p>
        </p:txBody>
      </p:sp>
      <p:sp>
        <p:nvSpPr>
          <p:cNvPr id="17" name="Shape 12"/>
          <p:cNvSpPr/>
          <p:nvPr/>
        </p:nvSpPr>
        <p:spPr>
          <a:xfrm>
            <a:off x="4101084" y="3474720"/>
            <a:ext cx="274320" cy="274320"/>
          </a:xfrm>
          <a:prstGeom prst="ellipse">
            <a:avLst/>
          </a:prstGeom>
          <a:solidFill>
            <a:srgbClr val="E6ECFB"/>
          </a:solidFill>
          <a:ln/>
        </p:spPr>
      </p:sp>
      <p:pic>
        <p:nvPicPr>
          <p:cNvPr id="18" name="Image 3" descr="/home/claude/deck/icons/arrowright.png"/>
          <p:cNvPicPr>
            <a:picLocks noChangeAspect="1"/>
          </p:cNvPicPr>
          <p:nvPr/>
        </p:nvPicPr>
        <p:blipFill>
          <a:blip r:embed="rId4"/>
          <a:stretch>
            <a:fillRect/>
          </a:stretch>
        </p:blipFill>
        <p:spPr>
          <a:xfrm>
            <a:off x="4136746" y="3510382"/>
            <a:ext cx="202997" cy="202997"/>
          </a:xfrm>
          <a:prstGeom prst="rect">
            <a:avLst/>
          </a:prstGeom>
        </p:spPr>
      </p:pic>
      <p:sp>
        <p:nvSpPr>
          <p:cNvPr id="19" name="Shape 13"/>
          <p:cNvSpPr/>
          <p:nvPr/>
        </p:nvSpPr>
        <p:spPr>
          <a:xfrm>
            <a:off x="4366260" y="2468880"/>
            <a:ext cx="1600200" cy="2286000"/>
          </a:xfrm>
          <a:prstGeom prst="roundRect">
            <a:avLst>
              <a:gd name="adj" fmla="val 6857"/>
            </a:avLst>
          </a:prstGeom>
          <a:solidFill>
            <a:srgbClr val="FFFFFF"/>
          </a:solidFill>
          <a:ln w="12700">
            <a:solidFill>
              <a:srgbClr val="E1E6F5"/>
            </a:solidFill>
            <a:prstDash val="solid"/>
          </a:ln>
          <a:effectLst>
            <a:outerShdw blurRad="76200" dist="25400" dir="5400000" algn="bl" rotWithShape="0">
              <a:srgbClr val="999999">
                <a:alpha val="18000"/>
              </a:srgbClr>
            </a:outerShdw>
          </a:effectLst>
        </p:spPr>
      </p:sp>
      <p:sp>
        <p:nvSpPr>
          <p:cNvPr id="20" name="Shape 14"/>
          <p:cNvSpPr/>
          <p:nvPr/>
        </p:nvSpPr>
        <p:spPr>
          <a:xfrm>
            <a:off x="4846320" y="2743200"/>
            <a:ext cx="640080" cy="640080"/>
          </a:xfrm>
          <a:prstGeom prst="ellipse">
            <a:avLst/>
          </a:prstGeom>
          <a:solidFill>
            <a:srgbClr val="F79009"/>
          </a:solidFill>
          <a:ln/>
        </p:spPr>
      </p:sp>
      <p:pic>
        <p:nvPicPr>
          <p:cNvPr id="21" name="Image 4" descr="/home/claude/deck/icons/bolt.png"/>
          <p:cNvPicPr>
            <a:picLocks noChangeAspect="1"/>
          </p:cNvPicPr>
          <p:nvPr/>
        </p:nvPicPr>
        <p:blipFill>
          <a:blip r:embed="rId6"/>
          <a:stretch>
            <a:fillRect/>
          </a:stretch>
        </p:blipFill>
        <p:spPr>
          <a:xfrm>
            <a:off x="4929530" y="2826410"/>
            <a:ext cx="473659" cy="473659"/>
          </a:xfrm>
          <a:prstGeom prst="rect">
            <a:avLst/>
          </a:prstGeom>
        </p:spPr>
      </p:pic>
      <p:sp>
        <p:nvSpPr>
          <p:cNvPr id="22" name="Text 15"/>
          <p:cNvSpPr/>
          <p:nvPr/>
        </p:nvSpPr>
        <p:spPr>
          <a:xfrm>
            <a:off x="4439412" y="2542032"/>
            <a:ext cx="365760" cy="274320"/>
          </a:xfrm>
          <a:prstGeom prst="rect">
            <a:avLst/>
          </a:prstGeom>
          <a:noFill/>
          <a:ln/>
        </p:spPr>
        <p:txBody>
          <a:bodyPr wrap="square" rtlCol="0" anchor="ctr"/>
          <a:lstStyle/>
          <a:p>
            <a:pPr marL="0" indent="0">
              <a:buNone/>
            </a:pPr>
            <a:r>
              <a:rPr lang="en-US" sz="1100" b="1" dirty="0">
                <a:solidFill>
                  <a:srgbClr val="5C6280"/>
                </a:solidFill>
                <a:latin typeface="Calibri" pitchFamily="34" charset="0"/>
                <a:ea typeface="Calibri" pitchFamily="34" charset="-122"/>
                <a:cs typeface="Calibri" pitchFamily="34" charset="-120"/>
              </a:rPr>
              <a:t>3</a:t>
            </a:r>
            <a:endParaRPr lang="en-US" sz="1100" dirty="0"/>
          </a:p>
        </p:txBody>
      </p:sp>
      <p:sp>
        <p:nvSpPr>
          <p:cNvPr id="23" name="Text 16"/>
          <p:cNvSpPr/>
          <p:nvPr/>
        </p:nvSpPr>
        <p:spPr>
          <a:xfrm>
            <a:off x="4439412" y="3520440"/>
            <a:ext cx="1453896" cy="1097280"/>
          </a:xfrm>
          <a:prstGeom prst="rect">
            <a:avLst/>
          </a:prstGeom>
          <a:noFill/>
          <a:ln/>
        </p:spPr>
        <p:txBody>
          <a:bodyPr wrap="square" rtlCol="0" anchor="t"/>
          <a:lstStyle/>
          <a:p>
            <a:pPr marL="0" indent="0" algn="ctr">
              <a:buNone/>
            </a:pPr>
            <a:r>
              <a:rPr lang="en-US" sz="1150" dirty="0">
                <a:solidFill>
                  <a:srgbClr val="1B1F3B"/>
                </a:solidFill>
                <a:latin typeface="Calibri" pitchFamily="34" charset="0"/>
                <a:ea typeface="Calibri" pitchFamily="34" charset="-122"/>
                <a:cs typeface="Calibri" pitchFamily="34" charset="-120"/>
              </a:rPr>
              <a:t>S3 event</a:t>
            </a:r>
            <a:endParaRPr lang="en-US" sz="1150" dirty="0"/>
          </a:p>
          <a:p>
            <a:pPr marL="0" indent="0" algn="ctr">
              <a:buNone/>
            </a:pPr>
            <a:r>
              <a:rPr lang="en-US" sz="1150" dirty="0">
                <a:solidFill>
                  <a:srgbClr val="1B1F3B"/>
                </a:solidFill>
                <a:latin typeface="Calibri" pitchFamily="34" charset="0"/>
                <a:ea typeface="Calibri" pitchFamily="34" charset="-122"/>
                <a:cs typeface="Calibri" pitchFamily="34" charset="-120"/>
              </a:rPr>
              <a:t>triggers Lambda</a:t>
            </a:r>
            <a:endParaRPr lang="en-US" sz="1150" dirty="0"/>
          </a:p>
        </p:txBody>
      </p:sp>
      <p:sp>
        <p:nvSpPr>
          <p:cNvPr id="24" name="Shape 17"/>
          <p:cNvSpPr/>
          <p:nvPr/>
        </p:nvSpPr>
        <p:spPr>
          <a:xfrm>
            <a:off x="5957316" y="3474720"/>
            <a:ext cx="274320" cy="274320"/>
          </a:xfrm>
          <a:prstGeom prst="ellipse">
            <a:avLst/>
          </a:prstGeom>
          <a:solidFill>
            <a:srgbClr val="E6ECFB"/>
          </a:solidFill>
          <a:ln/>
        </p:spPr>
      </p:sp>
      <p:pic>
        <p:nvPicPr>
          <p:cNvPr id="25" name="Image 5" descr="/home/claude/deck/icons/arrowright.png"/>
          <p:cNvPicPr>
            <a:picLocks noChangeAspect="1"/>
          </p:cNvPicPr>
          <p:nvPr/>
        </p:nvPicPr>
        <p:blipFill>
          <a:blip r:embed="rId4"/>
          <a:stretch>
            <a:fillRect/>
          </a:stretch>
        </p:blipFill>
        <p:spPr>
          <a:xfrm>
            <a:off x="5992978" y="3510382"/>
            <a:ext cx="202997" cy="202997"/>
          </a:xfrm>
          <a:prstGeom prst="rect">
            <a:avLst/>
          </a:prstGeom>
        </p:spPr>
      </p:pic>
      <p:sp>
        <p:nvSpPr>
          <p:cNvPr id="26" name="Shape 18"/>
          <p:cNvSpPr/>
          <p:nvPr/>
        </p:nvSpPr>
        <p:spPr>
          <a:xfrm>
            <a:off x="6222492" y="2468880"/>
            <a:ext cx="1600200" cy="2286000"/>
          </a:xfrm>
          <a:prstGeom prst="roundRect">
            <a:avLst>
              <a:gd name="adj" fmla="val 6857"/>
            </a:avLst>
          </a:prstGeom>
          <a:solidFill>
            <a:srgbClr val="FFFFFF"/>
          </a:solidFill>
          <a:ln w="12700">
            <a:solidFill>
              <a:srgbClr val="E1E6F5"/>
            </a:solidFill>
            <a:prstDash val="solid"/>
          </a:ln>
          <a:effectLst>
            <a:outerShdw blurRad="76200" dist="25400" dir="5400000" algn="bl" rotWithShape="0">
              <a:srgbClr val="999999">
                <a:alpha val="18000"/>
              </a:srgbClr>
            </a:outerShdw>
          </a:effectLst>
        </p:spPr>
      </p:sp>
      <p:sp>
        <p:nvSpPr>
          <p:cNvPr id="27" name="Shape 19"/>
          <p:cNvSpPr/>
          <p:nvPr/>
        </p:nvSpPr>
        <p:spPr>
          <a:xfrm>
            <a:off x="6702552" y="2743200"/>
            <a:ext cx="640080" cy="640080"/>
          </a:xfrm>
          <a:prstGeom prst="ellipse">
            <a:avLst/>
          </a:prstGeom>
          <a:solidFill>
            <a:srgbClr val="3776AB"/>
          </a:solidFill>
          <a:ln/>
        </p:spPr>
      </p:sp>
      <p:pic>
        <p:nvPicPr>
          <p:cNvPr id="28" name="Image 6" descr="/home/claude/deck/icons/python.png"/>
          <p:cNvPicPr>
            <a:picLocks noChangeAspect="1"/>
          </p:cNvPicPr>
          <p:nvPr/>
        </p:nvPicPr>
        <p:blipFill>
          <a:blip r:embed="rId7"/>
          <a:stretch>
            <a:fillRect/>
          </a:stretch>
        </p:blipFill>
        <p:spPr>
          <a:xfrm>
            <a:off x="6785762" y="2826410"/>
            <a:ext cx="473659" cy="473659"/>
          </a:xfrm>
          <a:prstGeom prst="rect">
            <a:avLst/>
          </a:prstGeom>
        </p:spPr>
      </p:pic>
      <p:sp>
        <p:nvSpPr>
          <p:cNvPr id="29" name="Text 20"/>
          <p:cNvSpPr/>
          <p:nvPr/>
        </p:nvSpPr>
        <p:spPr>
          <a:xfrm>
            <a:off x="6295644" y="2542032"/>
            <a:ext cx="365760" cy="274320"/>
          </a:xfrm>
          <a:prstGeom prst="rect">
            <a:avLst/>
          </a:prstGeom>
          <a:noFill/>
          <a:ln/>
        </p:spPr>
        <p:txBody>
          <a:bodyPr wrap="square" rtlCol="0" anchor="ctr"/>
          <a:lstStyle/>
          <a:p>
            <a:pPr marL="0" indent="0">
              <a:buNone/>
            </a:pPr>
            <a:r>
              <a:rPr lang="en-US" sz="1100" b="1" dirty="0">
                <a:solidFill>
                  <a:srgbClr val="5C6280"/>
                </a:solidFill>
                <a:latin typeface="Calibri" pitchFamily="34" charset="0"/>
                <a:ea typeface="Calibri" pitchFamily="34" charset="-122"/>
                <a:cs typeface="Calibri" pitchFamily="34" charset="-120"/>
              </a:rPr>
              <a:t>4</a:t>
            </a:r>
            <a:endParaRPr lang="en-US" sz="1100" dirty="0"/>
          </a:p>
        </p:txBody>
      </p:sp>
      <p:sp>
        <p:nvSpPr>
          <p:cNvPr id="30" name="Text 21"/>
          <p:cNvSpPr/>
          <p:nvPr/>
        </p:nvSpPr>
        <p:spPr>
          <a:xfrm>
            <a:off x="6295644" y="3520440"/>
            <a:ext cx="1453896" cy="1097280"/>
          </a:xfrm>
          <a:prstGeom prst="rect">
            <a:avLst/>
          </a:prstGeom>
          <a:noFill/>
          <a:ln/>
        </p:spPr>
        <p:txBody>
          <a:bodyPr wrap="square" rtlCol="0" anchor="t"/>
          <a:lstStyle/>
          <a:p>
            <a:pPr marL="0" indent="0" algn="ctr">
              <a:buNone/>
            </a:pPr>
            <a:r>
              <a:rPr lang="en-US" sz="1150" dirty="0">
                <a:solidFill>
                  <a:srgbClr val="1B1F3B"/>
                </a:solidFill>
                <a:latin typeface="Calibri" pitchFamily="34" charset="0"/>
                <a:ea typeface="Calibri" pitchFamily="34" charset="-122"/>
                <a:cs typeface="Calibri" pitchFamily="34" charset="-120"/>
              </a:rPr>
              <a:t>Lambda + Pillow</a:t>
            </a:r>
            <a:endParaRPr lang="en-US" sz="1150" dirty="0"/>
          </a:p>
          <a:p>
            <a:pPr marL="0" indent="0" algn="ctr">
              <a:buNone/>
            </a:pPr>
            <a:r>
              <a:rPr lang="en-US" sz="1150" dirty="0">
                <a:solidFill>
                  <a:srgbClr val="1B1F3B"/>
                </a:solidFill>
                <a:latin typeface="Calibri" pitchFamily="34" charset="0"/>
                <a:ea typeface="Calibri" pitchFamily="34" charset="-122"/>
                <a:cs typeface="Calibri" pitchFamily="34" charset="-120"/>
              </a:rPr>
              <a:t>process image</a:t>
            </a:r>
            <a:endParaRPr lang="en-US" sz="1150" dirty="0"/>
          </a:p>
        </p:txBody>
      </p:sp>
      <p:sp>
        <p:nvSpPr>
          <p:cNvPr id="31" name="Shape 22"/>
          <p:cNvSpPr/>
          <p:nvPr/>
        </p:nvSpPr>
        <p:spPr>
          <a:xfrm>
            <a:off x="7813548" y="3474720"/>
            <a:ext cx="274320" cy="274320"/>
          </a:xfrm>
          <a:prstGeom prst="ellipse">
            <a:avLst/>
          </a:prstGeom>
          <a:solidFill>
            <a:srgbClr val="E6ECFB"/>
          </a:solidFill>
          <a:ln/>
        </p:spPr>
      </p:sp>
      <p:pic>
        <p:nvPicPr>
          <p:cNvPr id="32" name="Image 7" descr="/home/claude/deck/icons/arrowright.png"/>
          <p:cNvPicPr>
            <a:picLocks noChangeAspect="1"/>
          </p:cNvPicPr>
          <p:nvPr/>
        </p:nvPicPr>
        <p:blipFill>
          <a:blip r:embed="rId4"/>
          <a:stretch>
            <a:fillRect/>
          </a:stretch>
        </p:blipFill>
        <p:spPr>
          <a:xfrm>
            <a:off x="7849210" y="3510382"/>
            <a:ext cx="202997" cy="202997"/>
          </a:xfrm>
          <a:prstGeom prst="rect">
            <a:avLst/>
          </a:prstGeom>
        </p:spPr>
      </p:pic>
      <p:sp>
        <p:nvSpPr>
          <p:cNvPr id="33" name="Shape 23"/>
          <p:cNvSpPr/>
          <p:nvPr/>
        </p:nvSpPr>
        <p:spPr>
          <a:xfrm>
            <a:off x="8078724" y="2468880"/>
            <a:ext cx="1600200" cy="2286000"/>
          </a:xfrm>
          <a:prstGeom prst="roundRect">
            <a:avLst>
              <a:gd name="adj" fmla="val 6857"/>
            </a:avLst>
          </a:prstGeom>
          <a:solidFill>
            <a:srgbClr val="FFFFFF"/>
          </a:solidFill>
          <a:ln w="12700">
            <a:solidFill>
              <a:srgbClr val="E1E6F5"/>
            </a:solidFill>
            <a:prstDash val="solid"/>
          </a:ln>
          <a:effectLst>
            <a:outerShdw blurRad="76200" dist="25400" dir="5400000" algn="bl" rotWithShape="0">
              <a:srgbClr val="999999">
                <a:alpha val="18000"/>
              </a:srgbClr>
            </a:outerShdw>
          </a:effectLst>
        </p:spPr>
      </p:sp>
      <p:sp>
        <p:nvSpPr>
          <p:cNvPr id="34" name="Shape 24"/>
          <p:cNvSpPr/>
          <p:nvPr/>
        </p:nvSpPr>
        <p:spPr>
          <a:xfrm>
            <a:off x="8558784" y="2743200"/>
            <a:ext cx="640080" cy="640080"/>
          </a:xfrm>
          <a:prstGeom prst="ellipse">
            <a:avLst/>
          </a:prstGeom>
          <a:solidFill>
            <a:srgbClr val="1E2761"/>
          </a:solidFill>
          <a:ln/>
        </p:spPr>
      </p:sp>
      <p:pic>
        <p:nvPicPr>
          <p:cNvPr id="35" name="Image 8" descr="/home/claude/deck/icons/image.png"/>
          <p:cNvPicPr>
            <a:picLocks noChangeAspect="1"/>
          </p:cNvPicPr>
          <p:nvPr/>
        </p:nvPicPr>
        <p:blipFill>
          <a:blip r:embed="rId8"/>
          <a:stretch>
            <a:fillRect/>
          </a:stretch>
        </p:blipFill>
        <p:spPr>
          <a:xfrm>
            <a:off x="8641994" y="2826410"/>
            <a:ext cx="473659" cy="473659"/>
          </a:xfrm>
          <a:prstGeom prst="rect">
            <a:avLst/>
          </a:prstGeom>
        </p:spPr>
      </p:pic>
      <p:sp>
        <p:nvSpPr>
          <p:cNvPr id="36" name="Text 25"/>
          <p:cNvSpPr/>
          <p:nvPr/>
        </p:nvSpPr>
        <p:spPr>
          <a:xfrm>
            <a:off x="8151876" y="2542032"/>
            <a:ext cx="365760" cy="274320"/>
          </a:xfrm>
          <a:prstGeom prst="rect">
            <a:avLst/>
          </a:prstGeom>
          <a:noFill/>
          <a:ln/>
        </p:spPr>
        <p:txBody>
          <a:bodyPr wrap="square" rtlCol="0" anchor="ctr"/>
          <a:lstStyle/>
          <a:p>
            <a:pPr marL="0" indent="0">
              <a:buNone/>
            </a:pPr>
            <a:r>
              <a:rPr lang="en-US" sz="1100" b="1" dirty="0">
                <a:solidFill>
                  <a:srgbClr val="5C6280"/>
                </a:solidFill>
                <a:latin typeface="Calibri" pitchFamily="34" charset="0"/>
                <a:ea typeface="Calibri" pitchFamily="34" charset="-122"/>
                <a:cs typeface="Calibri" pitchFamily="34" charset="-120"/>
              </a:rPr>
              <a:t>5</a:t>
            </a:r>
            <a:endParaRPr lang="en-US" sz="1100" dirty="0"/>
          </a:p>
        </p:txBody>
      </p:sp>
      <p:sp>
        <p:nvSpPr>
          <p:cNvPr id="37" name="Text 26"/>
          <p:cNvSpPr/>
          <p:nvPr/>
        </p:nvSpPr>
        <p:spPr>
          <a:xfrm>
            <a:off x="8151876" y="3520440"/>
            <a:ext cx="1453896" cy="1097280"/>
          </a:xfrm>
          <a:prstGeom prst="rect">
            <a:avLst/>
          </a:prstGeom>
          <a:noFill/>
          <a:ln/>
        </p:spPr>
        <p:txBody>
          <a:bodyPr wrap="square" rtlCol="0" anchor="t"/>
          <a:lstStyle/>
          <a:p>
            <a:pPr marL="0" indent="0" algn="ctr">
              <a:buNone/>
            </a:pPr>
            <a:r>
              <a:rPr lang="en-US" sz="1150" dirty="0">
                <a:solidFill>
                  <a:srgbClr val="1B1F3B"/>
                </a:solidFill>
                <a:latin typeface="Calibri" pitchFamily="34" charset="0"/>
                <a:ea typeface="Calibri" pitchFamily="34" charset="-122"/>
                <a:cs typeface="Calibri" pitchFamily="34" charset="-120"/>
              </a:rPr>
              <a:t>Thumbnail saved</a:t>
            </a:r>
            <a:endParaRPr lang="en-US" sz="1150" dirty="0"/>
          </a:p>
          <a:p>
            <a:pPr marL="0" indent="0" algn="ctr">
              <a:buNone/>
            </a:pPr>
            <a:r>
              <a:rPr lang="en-US" sz="1150" dirty="0">
                <a:solidFill>
                  <a:srgbClr val="1B1F3B"/>
                </a:solidFill>
                <a:latin typeface="Calibri" pitchFamily="34" charset="0"/>
                <a:ea typeface="Calibri" pitchFamily="34" charset="-122"/>
                <a:cs typeface="Calibri" pitchFamily="34" charset="-120"/>
              </a:rPr>
              <a:t>back to S3</a:t>
            </a:r>
            <a:endParaRPr lang="en-US" sz="1150" dirty="0"/>
          </a:p>
        </p:txBody>
      </p:sp>
      <p:sp>
        <p:nvSpPr>
          <p:cNvPr id="38" name="Shape 27"/>
          <p:cNvSpPr/>
          <p:nvPr/>
        </p:nvSpPr>
        <p:spPr>
          <a:xfrm>
            <a:off x="9669780" y="3474720"/>
            <a:ext cx="274320" cy="274320"/>
          </a:xfrm>
          <a:prstGeom prst="ellipse">
            <a:avLst/>
          </a:prstGeom>
          <a:solidFill>
            <a:srgbClr val="E6ECFB"/>
          </a:solidFill>
          <a:ln/>
        </p:spPr>
      </p:sp>
      <p:pic>
        <p:nvPicPr>
          <p:cNvPr id="39" name="Image 9" descr="/home/claude/deck/icons/arrowright.png"/>
          <p:cNvPicPr>
            <a:picLocks noChangeAspect="1"/>
          </p:cNvPicPr>
          <p:nvPr/>
        </p:nvPicPr>
        <p:blipFill>
          <a:blip r:embed="rId4"/>
          <a:stretch>
            <a:fillRect/>
          </a:stretch>
        </p:blipFill>
        <p:spPr>
          <a:xfrm>
            <a:off x="9705442" y="3510382"/>
            <a:ext cx="202997" cy="202997"/>
          </a:xfrm>
          <a:prstGeom prst="rect">
            <a:avLst/>
          </a:prstGeom>
        </p:spPr>
      </p:pic>
      <p:sp>
        <p:nvSpPr>
          <p:cNvPr id="40" name="Shape 28"/>
          <p:cNvSpPr/>
          <p:nvPr/>
        </p:nvSpPr>
        <p:spPr>
          <a:xfrm>
            <a:off x="9934956" y="2468880"/>
            <a:ext cx="1600200" cy="2286000"/>
          </a:xfrm>
          <a:prstGeom prst="roundRect">
            <a:avLst>
              <a:gd name="adj" fmla="val 6857"/>
            </a:avLst>
          </a:prstGeom>
          <a:solidFill>
            <a:srgbClr val="FFFFFF"/>
          </a:solidFill>
          <a:ln w="12700">
            <a:solidFill>
              <a:srgbClr val="E1E6F5"/>
            </a:solidFill>
            <a:prstDash val="solid"/>
          </a:ln>
          <a:effectLst>
            <a:outerShdw blurRad="76200" dist="25400" dir="5400000" algn="bl" rotWithShape="0">
              <a:srgbClr val="999999">
                <a:alpha val="18000"/>
              </a:srgbClr>
            </a:outerShdw>
          </a:effectLst>
        </p:spPr>
      </p:sp>
      <p:sp>
        <p:nvSpPr>
          <p:cNvPr id="41" name="Shape 29"/>
          <p:cNvSpPr/>
          <p:nvPr/>
        </p:nvSpPr>
        <p:spPr>
          <a:xfrm>
            <a:off x="10415016" y="2743200"/>
            <a:ext cx="640080" cy="640080"/>
          </a:xfrm>
          <a:prstGeom prst="ellipse">
            <a:avLst/>
          </a:prstGeom>
          <a:solidFill>
            <a:srgbClr val="12B76A"/>
          </a:solidFill>
          <a:ln/>
        </p:spPr>
      </p:sp>
      <p:pic>
        <p:nvPicPr>
          <p:cNvPr id="42" name="Image 10" descr="/home/claude/deck/icons/eye.png"/>
          <p:cNvPicPr>
            <a:picLocks noChangeAspect="1"/>
          </p:cNvPicPr>
          <p:nvPr/>
        </p:nvPicPr>
        <p:blipFill>
          <a:blip r:embed="rId9"/>
          <a:stretch>
            <a:fillRect/>
          </a:stretch>
        </p:blipFill>
        <p:spPr>
          <a:xfrm>
            <a:off x="10498226" y="2826410"/>
            <a:ext cx="473659" cy="473659"/>
          </a:xfrm>
          <a:prstGeom prst="rect">
            <a:avLst/>
          </a:prstGeom>
        </p:spPr>
      </p:pic>
      <p:sp>
        <p:nvSpPr>
          <p:cNvPr id="43" name="Text 30"/>
          <p:cNvSpPr/>
          <p:nvPr/>
        </p:nvSpPr>
        <p:spPr>
          <a:xfrm>
            <a:off x="10008108" y="2542032"/>
            <a:ext cx="365760" cy="274320"/>
          </a:xfrm>
          <a:prstGeom prst="rect">
            <a:avLst/>
          </a:prstGeom>
          <a:noFill/>
          <a:ln/>
        </p:spPr>
        <p:txBody>
          <a:bodyPr wrap="square" rtlCol="0" anchor="ctr"/>
          <a:lstStyle/>
          <a:p>
            <a:pPr marL="0" indent="0">
              <a:buNone/>
            </a:pPr>
            <a:r>
              <a:rPr lang="en-US" sz="1100" b="1" dirty="0">
                <a:solidFill>
                  <a:srgbClr val="5C6280"/>
                </a:solidFill>
                <a:latin typeface="Calibri" pitchFamily="34" charset="0"/>
                <a:ea typeface="Calibri" pitchFamily="34" charset="-122"/>
                <a:cs typeface="Calibri" pitchFamily="34" charset="-120"/>
              </a:rPr>
              <a:t>6</a:t>
            </a:r>
            <a:endParaRPr lang="en-US" sz="1100" dirty="0"/>
          </a:p>
        </p:txBody>
      </p:sp>
      <p:sp>
        <p:nvSpPr>
          <p:cNvPr id="44" name="Text 31"/>
          <p:cNvSpPr/>
          <p:nvPr/>
        </p:nvSpPr>
        <p:spPr>
          <a:xfrm>
            <a:off x="10008108" y="3520440"/>
            <a:ext cx="1453896" cy="1097280"/>
          </a:xfrm>
          <a:prstGeom prst="rect">
            <a:avLst/>
          </a:prstGeom>
          <a:noFill/>
          <a:ln/>
        </p:spPr>
        <p:txBody>
          <a:bodyPr wrap="square" rtlCol="0" anchor="t"/>
          <a:lstStyle/>
          <a:p>
            <a:pPr marL="0" indent="0" algn="ctr">
              <a:buNone/>
            </a:pPr>
            <a:r>
              <a:rPr lang="en-US" sz="1150" dirty="0">
                <a:solidFill>
                  <a:srgbClr val="1B1F3B"/>
                </a:solidFill>
                <a:latin typeface="Calibri" pitchFamily="34" charset="0"/>
                <a:ea typeface="Calibri" pitchFamily="34" charset="-122"/>
                <a:cs typeface="Calibri" pitchFamily="34" charset="-120"/>
              </a:rPr>
              <a:t>User views original</a:t>
            </a:r>
            <a:endParaRPr lang="en-US" sz="1150" dirty="0"/>
          </a:p>
          <a:p>
            <a:pPr marL="0" indent="0" algn="ctr">
              <a:buNone/>
            </a:pPr>
            <a:r>
              <a:rPr lang="en-US" sz="1150" dirty="0">
                <a:solidFill>
                  <a:srgbClr val="1B1F3B"/>
                </a:solidFill>
                <a:latin typeface="Calibri" pitchFamily="34" charset="0"/>
                <a:ea typeface="Calibri" pitchFamily="34" charset="-122"/>
                <a:cs typeface="Calibri" pitchFamily="34" charset="-120"/>
              </a:rPr>
              <a:t>+ thumbnail</a:t>
            </a:r>
            <a:endParaRPr lang="en-US" sz="1150" dirty="0"/>
          </a:p>
        </p:txBody>
      </p:sp>
      <p:sp>
        <p:nvSpPr>
          <p:cNvPr id="45" name="Text 32"/>
          <p:cNvSpPr/>
          <p:nvPr/>
        </p:nvSpPr>
        <p:spPr>
          <a:xfrm>
            <a:off x="548640" y="5120640"/>
            <a:ext cx="10789920" cy="548640"/>
          </a:xfrm>
          <a:prstGeom prst="rect">
            <a:avLst/>
          </a:prstGeom>
          <a:noFill/>
          <a:ln/>
        </p:spPr>
        <p:txBody>
          <a:bodyPr wrap="square" rtlCol="0" anchor="ctr"/>
          <a:lstStyle/>
          <a:p>
            <a:pPr marL="0" indent="0">
              <a:buNone/>
            </a:pPr>
            <a:r>
              <a:rPr lang="en-US" sz="1300" i="1" dirty="0">
                <a:solidFill>
                  <a:srgbClr val="5C6280"/>
                </a:solidFill>
                <a:latin typeface="Calibri" pitchFamily="34" charset="0"/>
                <a:ea typeface="Calibri" pitchFamily="34" charset="-122"/>
                <a:cs typeface="Calibri" pitchFamily="34" charset="-120"/>
              </a:rPr>
              <a:t>Result: thumbnails are generated automatically within seconds of upload, with zero manual intervention and no added load on the web server.</a:t>
            </a:r>
            <a:endParaRPr lang="en-US" sz="1300" dirty="0"/>
          </a:p>
        </p:txBody>
      </p:sp>
      <p:sp>
        <p:nvSpPr>
          <p:cNvPr id="46" name="Text 33"/>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5C6280"/>
                </a:solidFill>
                <a:latin typeface="Calibri" pitchFamily="34" charset="0"/>
                <a:ea typeface="Calibri" pitchFamily="34" charset="-122"/>
                <a:cs typeface="Calibri" pitchFamily="34" charset="-120"/>
              </a:rPr>
              <a:t>Proposed Solution</a:t>
            </a:r>
            <a:endParaRPr lang="en-US" sz="900" dirty="0"/>
          </a:p>
        </p:txBody>
      </p:sp>
      <p:sp>
        <p:nvSpPr>
          <p:cNvPr id="47" name="Text 34"/>
          <p:cNvSpPr/>
          <p:nvPr/>
        </p:nvSpPr>
        <p:spPr>
          <a:xfrm>
            <a:off x="9445752" y="6528816"/>
            <a:ext cx="2286000" cy="274320"/>
          </a:xfrm>
          <a:prstGeom prst="rect">
            <a:avLst/>
          </a:prstGeom>
          <a:noFill/>
          <a:ln/>
        </p:spPr>
        <p:txBody>
          <a:bodyPr wrap="square" rtlCol="0" anchor="ctr"/>
          <a:lstStyle/>
          <a:p>
            <a:pPr marL="0" indent="0" algn="r">
              <a:buNone/>
            </a:pPr>
            <a:r>
              <a:rPr lang="en-US" sz="900" dirty="0">
                <a:solidFill>
                  <a:srgbClr val="5C6280"/>
                </a:solidFill>
                <a:latin typeface="Calibri" pitchFamily="34" charset="0"/>
                <a:ea typeface="Calibri" pitchFamily="34" charset="-122"/>
                <a:cs typeface="Calibri" pitchFamily="34" charset="-120"/>
              </a:rPr>
              <a:t>TechFusion  |  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E"/>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4A6FE3"/>
                </a:solidFill>
                <a:latin typeface="Calibri" pitchFamily="34" charset="0"/>
                <a:ea typeface="Calibri" pitchFamily="34" charset="-122"/>
                <a:cs typeface="Calibri" pitchFamily="34" charset="-120"/>
              </a:rPr>
              <a:t>WORKING PROTOTYPE</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Final Prototype — User Interface</a:t>
            </a:r>
            <a:endParaRPr lang="en-US" sz="3000" dirty="0"/>
          </a:p>
        </p:txBody>
      </p:sp>
      <p:sp>
        <p:nvSpPr>
          <p:cNvPr id="4" name="Shape 2"/>
          <p:cNvSpPr/>
          <p:nvPr/>
        </p:nvSpPr>
        <p:spPr>
          <a:xfrm>
            <a:off x="548640" y="1508760"/>
            <a:ext cx="1737360" cy="365760"/>
          </a:xfrm>
          <a:prstGeom prst="roundRect">
            <a:avLst>
              <a:gd name="adj" fmla="val 50000"/>
            </a:avLst>
          </a:prstGeom>
          <a:solidFill>
            <a:srgbClr val="E7F9F1"/>
          </a:solidFill>
          <a:ln/>
        </p:spPr>
      </p:sp>
      <p:sp>
        <p:nvSpPr>
          <p:cNvPr id="5" name="Shape 3"/>
          <p:cNvSpPr/>
          <p:nvPr/>
        </p:nvSpPr>
        <p:spPr>
          <a:xfrm>
            <a:off x="621792" y="1563624"/>
            <a:ext cx="256032" cy="256032"/>
          </a:xfrm>
          <a:prstGeom prst="ellipse">
            <a:avLst/>
          </a:prstGeom>
          <a:solidFill>
            <a:srgbClr val="12B76A"/>
          </a:solidFill>
          <a:ln/>
        </p:spPr>
      </p:sp>
      <p:pic>
        <p:nvPicPr>
          <p:cNvPr id="6" name="Image 0" descr="/home/claude/deck/icons/check.png"/>
          <p:cNvPicPr>
            <a:picLocks noChangeAspect="1"/>
          </p:cNvPicPr>
          <p:nvPr/>
        </p:nvPicPr>
        <p:blipFill>
          <a:blip r:embed="rId3"/>
          <a:stretch>
            <a:fillRect/>
          </a:stretch>
        </p:blipFill>
        <p:spPr>
          <a:xfrm>
            <a:off x="655076" y="1596908"/>
            <a:ext cx="189464" cy="189464"/>
          </a:xfrm>
          <a:prstGeom prst="rect">
            <a:avLst/>
          </a:prstGeom>
        </p:spPr>
      </p:pic>
      <p:sp>
        <p:nvSpPr>
          <p:cNvPr id="7" name="Text 4"/>
          <p:cNvSpPr/>
          <p:nvPr/>
        </p:nvSpPr>
        <p:spPr>
          <a:xfrm>
            <a:off x="960120" y="1508760"/>
            <a:ext cx="1371600" cy="365760"/>
          </a:xfrm>
          <a:prstGeom prst="rect">
            <a:avLst/>
          </a:prstGeom>
          <a:noFill/>
          <a:ln/>
        </p:spPr>
        <p:txBody>
          <a:bodyPr wrap="square" rtlCol="0" anchor="ctr"/>
          <a:lstStyle/>
          <a:p>
            <a:pPr marL="0" indent="0">
              <a:buNone/>
            </a:pPr>
            <a:r>
              <a:rPr lang="en-US" sz="950" b="1" dirty="0">
                <a:solidFill>
                  <a:srgbClr val="12B76A"/>
                </a:solidFill>
                <a:latin typeface="Calibri" pitchFamily="34" charset="0"/>
                <a:ea typeface="Calibri" pitchFamily="34" charset="-122"/>
                <a:cs typeface="Calibri" pitchFamily="34" charset="-120"/>
              </a:rPr>
              <a:t>LIVE &amp; FUNCTIONAL</a:t>
            </a:r>
            <a:endParaRPr lang="en-US" sz="950" dirty="0"/>
          </a:p>
        </p:txBody>
      </p:sp>
      <p:sp>
        <p:nvSpPr>
          <p:cNvPr id="32" name="Text 26"/>
          <p:cNvSpPr/>
          <p:nvPr/>
        </p:nvSpPr>
        <p:spPr>
          <a:xfrm>
            <a:off x="6720840" y="2057400"/>
            <a:ext cx="4892040" cy="274320"/>
          </a:xfrm>
          <a:prstGeom prst="rect">
            <a:avLst/>
          </a:prstGeom>
          <a:noFill/>
          <a:ln/>
        </p:spPr>
        <p:txBody>
          <a:bodyPr wrap="square" rtlCol="0" anchor="ctr"/>
          <a:lstStyle/>
          <a:p>
            <a:pPr marL="0" indent="0">
              <a:buNone/>
            </a:pPr>
            <a:r>
              <a:rPr lang="en-US" sz="1100" b="1" kern="0" spc="150" dirty="0">
                <a:solidFill>
                  <a:srgbClr val="4A6FE3"/>
                </a:solidFill>
                <a:latin typeface="Calibri" pitchFamily="34" charset="0"/>
                <a:ea typeface="Calibri" pitchFamily="34" charset="-122"/>
                <a:cs typeface="Calibri" pitchFamily="34" charset="-120"/>
              </a:rPr>
              <a:t>IMPLEMENTED FEATURES</a:t>
            </a:r>
            <a:endParaRPr lang="en-US" sz="1100" dirty="0"/>
          </a:p>
        </p:txBody>
      </p:sp>
      <p:sp>
        <p:nvSpPr>
          <p:cNvPr id="33" name="Shape 27"/>
          <p:cNvSpPr/>
          <p:nvPr/>
        </p:nvSpPr>
        <p:spPr>
          <a:xfrm>
            <a:off x="6720840" y="2423160"/>
            <a:ext cx="292608" cy="292608"/>
          </a:xfrm>
          <a:prstGeom prst="ellipse">
            <a:avLst/>
          </a:prstGeom>
          <a:solidFill>
            <a:srgbClr val="E7F9F1"/>
          </a:solidFill>
          <a:ln/>
        </p:spPr>
      </p:sp>
      <p:pic>
        <p:nvPicPr>
          <p:cNvPr id="34" name="Image 4" descr="/home/claude/deck/icons/check.png"/>
          <p:cNvPicPr>
            <a:picLocks noChangeAspect="1"/>
          </p:cNvPicPr>
          <p:nvPr/>
        </p:nvPicPr>
        <p:blipFill>
          <a:blip r:embed="rId3"/>
          <a:stretch>
            <a:fillRect/>
          </a:stretch>
        </p:blipFill>
        <p:spPr>
          <a:xfrm>
            <a:off x="6758879" y="2461199"/>
            <a:ext cx="216530" cy="216530"/>
          </a:xfrm>
          <a:prstGeom prst="rect">
            <a:avLst/>
          </a:prstGeom>
        </p:spPr>
      </p:pic>
      <p:sp>
        <p:nvSpPr>
          <p:cNvPr id="35" name="Text 28"/>
          <p:cNvSpPr/>
          <p:nvPr/>
        </p:nvSpPr>
        <p:spPr>
          <a:xfrm>
            <a:off x="7178040" y="2395728"/>
            <a:ext cx="4434840" cy="457200"/>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Drag-and-drop upload + browse/select</a:t>
            </a:r>
            <a:endParaRPr lang="en-US" sz="1250" dirty="0"/>
          </a:p>
        </p:txBody>
      </p:sp>
      <p:sp>
        <p:nvSpPr>
          <p:cNvPr id="36" name="Shape 29"/>
          <p:cNvSpPr/>
          <p:nvPr/>
        </p:nvSpPr>
        <p:spPr>
          <a:xfrm>
            <a:off x="6720840" y="2953512"/>
            <a:ext cx="292608" cy="292608"/>
          </a:xfrm>
          <a:prstGeom prst="ellipse">
            <a:avLst/>
          </a:prstGeom>
          <a:solidFill>
            <a:srgbClr val="E7F9F1"/>
          </a:solidFill>
          <a:ln/>
        </p:spPr>
      </p:sp>
      <p:pic>
        <p:nvPicPr>
          <p:cNvPr id="37" name="Image 5" descr="/home/claude/deck/icons/check.png"/>
          <p:cNvPicPr>
            <a:picLocks noChangeAspect="1"/>
          </p:cNvPicPr>
          <p:nvPr/>
        </p:nvPicPr>
        <p:blipFill>
          <a:blip r:embed="rId3"/>
          <a:stretch>
            <a:fillRect/>
          </a:stretch>
        </p:blipFill>
        <p:spPr>
          <a:xfrm>
            <a:off x="6758879" y="2991551"/>
            <a:ext cx="216530" cy="216530"/>
          </a:xfrm>
          <a:prstGeom prst="rect">
            <a:avLst/>
          </a:prstGeom>
        </p:spPr>
      </p:pic>
      <p:sp>
        <p:nvSpPr>
          <p:cNvPr id="38" name="Text 30"/>
          <p:cNvSpPr/>
          <p:nvPr/>
        </p:nvSpPr>
        <p:spPr>
          <a:xfrm>
            <a:off x="7178040" y="2926080"/>
            <a:ext cx="4434840" cy="457200"/>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Instant image preview before upload</a:t>
            </a:r>
            <a:endParaRPr lang="en-US" sz="1250" dirty="0"/>
          </a:p>
        </p:txBody>
      </p:sp>
      <p:sp>
        <p:nvSpPr>
          <p:cNvPr id="39" name="Shape 31"/>
          <p:cNvSpPr/>
          <p:nvPr/>
        </p:nvSpPr>
        <p:spPr>
          <a:xfrm>
            <a:off x="6720840" y="3483864"/>
            <a:ext cx="292608" cy="292608"/>
          </a:xfrm>
          <a:prstGeom prst="ellipse">
            <a:avLst/>
          </a:prstGeom>
          <a:solidFill>
            <a:srgbClr val="E7F9F1"/>
          </a:solidFill>
          <a:ln/>
        </p:spPr>
      </p:sp>
      <p:pic>
        <p:nvPicPr>
          <p:cNvPr id="40" name="Image 6" descr="/home/claude/deck/icons/check.png"/>
          <p:cNvPicPr>
            <a:picLocks noChangeAspect="1"/>
          </p:cNvPicPr>
          <p:nvPr/>
        </p:nvPicPr>
        <p:blipFill>
          <a:blip r:embed="rId3"/>
          <a:stretch>
            <a:fillRect/>
          </a:stretch>
        </p:blipFill>
        <p:spPr>
          <a:xfrm>
            <a:off x="6758879" y="3521903"/>
            <a:ext cx="216530" cy="216530"/>
          </a:xfrm>
          <a:prstGeom prst="rect">
            <a:avLst/>
          </a:prstGeom>
        </p:spPr>
      </p:pic>
      <p:sp>
        <p:nvSpPr>
          <p:cNvPr id="41" name="Text 32"/>
          <p:cNvSpPr/>
          <p:nvPr/>
        </p:nvSpPr>
        <p:spPr>
          <a:xfrm>
            <a:off x="7178040" y="3456432"/>
            <a:ext cx="4434840" cy="457200"/>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File name &amp; size display</a:t>
            </a:r>
            <a:endParaRPr lang="en-US" sz="1250" dirty="0"/>
          </a:p>
        </p:txBody>
      </p:sp>
      <p:sp>
        <p:nvSpPr>
          <p:cNvPr id="42" name="Shape 33"/>
          <p:cNvSpPr/>
          <p:nvPr/>
        </p:nvSpPr>
        <p:spPr>
          <a:xfrm>
            <a:off x="6720840" y="4014216"/>
            <a:ext cx="292608" cy="292608"/>
          </a:xfrm>
          <a:prstGeom prst="ellipse">
            <a:avLst/>
          </a:prstGeom>
          <a:solidFill>
            <a:srgbClr val="E7F9F1"/>
          </a:solidFill>
          <a:ln/>
        </p:spPr>
      </p:sp>
      <p:pic>
        <p:nvPicPr>
          <p:cNvPr id="43" name="Image 7" descr="/home/claude/deck/icons/check.png"/>
          <p:cNvPicPr>
            <a:picLocks noChangeAspect="1"/>
          </p:cNvPicPr>
          <p:nvPr/>
        </p:nvPicPr>
        <p:blipFill>
          <a:blip r:embed="rId3"/>
          <a:stretch>
            <a:fillRect/>
          </a:stretch>
        </p:blipFill>
        <p:spPr>
          <a:xfrm>
            <a:off x="6758879" y="4052255"/>
            <a:ext cx="216530" cy="216530"/>
          </a:xfrm>
          <a:prstGeom prst="rect">
            <a:avLst/>
          </a:prstGeom>
        </p:spPr>
      </p:pic>
      <p:sp>
        <p:nvSpPr>
          <p:cNvPr id="44" name="Text 34"/>
          <p:cNvSpPr/>
          <p:nvPr/>
        </p:nvSpPr>
        <p:spPr>
          <a:xfrm>
            <a:off x="7178040" y="3986784"/>
            <a:ext cx="4434840" cy="457200"/>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Supported: JPG, JPEG, PNG, GIF, WEBP (max 5 MB)</a:t>
            </a:r>
            <a:endParaRPr lang="en-US" sz="1250" dirty="0"/>
          </a:p>
        </p:txBody>
      </p:sp>
      <p:sp>
        <p:nvSpPr>
          <p:cNvPr id="45" name="Shape 35"/>
          <p:cNvSpPr/>
          <p:nvPr/>
        </p:nvSpPr>
        <p:spPr>
          <a:xfrm>
            <a:off x="6720840" y="4544568"/>
            <a:ext cx="292608" cy="292608"/>
          </a:xfrm>
          <a:prstGeom prst="ellipse">
            <a:avLst/>
          </a:prstGeom>
          <a:solidFill>
            <a:srgbClr val="E7F9F1"/>
          </a:solidFill>
          <a:ln/>
        </p:spPr>
      </p:sp>
      <p:pic>
        <p:nvPicPr>
          <p:cNvPr id="46" name="Image 8" descr="/home/claude/deck/icons/check.png"/>
          <p:cNvPicPr>
            <a:picLocks noChangeAspect="1"/>
          </p:cNvPicPr>
          <p:nvPr/>
        </p:nvPicPr>
        <p:blipFill>
          <a:blip r:embed="rId3"/>
          <a:stretch>
            <a:fillRect/>
          </a:stretch>
        </p:blipFill>
        <p:spPr>
          <a:xfrm>
            <a:off x="6758879" y="4582607"/>
            <a:ext cx="216530" cy="216530"/>
          </a:xfrm>
          <a:prstGeom prst="rect">
            <a:avLst/>
          </a:prstGeom>
        </p:spPr>
      </p:pic>
      <p:sp>
        <p:nvSpPr>
          <p:cNvPr id="47" name="Text 36"/>
          <p:cNvSpPr/>
          <p:nvPr/>
        </p:nvSpPr>
        <p:spPr>
          <a:xfrm>
            <a:off x="7178040" y="4517136"/>
            <a:ext cx="4434840" cy="457200"/>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Upload button with loading state</a:t>
            </a:r>
            <a:endParaRPr lang="en-US" sz="1250" dirty="0"/>
          </a:p>
        </p:txBody>
      </p:sp>
      <p:sp>
        <p:nvSpPr>
          <p:cNvPr id="48" name="Shape 37"/>
          <p:cNvSpPr/>
          <p:nvPr/>
        </p:nvSpPr>
        <p:spPr>
          <a:xfrm>
            <a:off x="6720840" y="5074920"/>
            <a:ext cx="292608" cy="292608"/>
          </a:xfrm>
          <a:prstGeom prst="ellipse">
            <a:avLst/>
          </a:prstGeom>
          <a:solidFill>
            <a:srgbClr val="E7F9F1"/>
          </a:solidFill>
          <a:ln/>
        </p:spPr>
      </p:sp>
      <p:pic>
        <p:nvPicPr>
          <p:cNvPr id="49" name="Image 9" descr="/home/claude/deck/icons/check.png"/>
          <p:cNvPicPr>
            <a:picLocks noChangeAspect="1"/>
          </p:cNvPicPr>
          <p:nvPr/>
        </p:nvPicPr>
        <p:blipFill>
          <a:blip r:embed="rId3"/>
          <a:stretch>
            <a:fillRect/>
          </a:stretch>
        </p:blipFill>
        <p:spPr>
          <a:xfrm>
            <a:off x="6758879" y="5112959"/>
            <a:ext cx="216530" cy="216530"/>
          </a:xfrm>
          <a:prstGeom prst="rect">
            <a:avLst/>
          </a:prstGeom>
        </p:spPr>
      </p:pic>
      <p:sp>
        <p:nvSpPr>
          <p:cNvPr id="50" name="Text 38"/>
          <p:cNvSpPr/>
          <p:nvPr/>
        </p:nvSpPr>
        <p:spPr>
          <a:xfrm>
            <a:off x="7178040" y="5047488"/>
            <a:ext cx="4434840" cy="457200"/>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Real-time upload &amp; processing status</a:t>
            </a:r>
            <a:endParaRPr lang="en-US" sz="1250" dirty="0"/>
          </a:p>
        </p:txBody>
      </p:sp>
      <p:sp>
        <p:nvSpPr>
          <p:cNvPr id="51" name="Shape 39"/>
          <p:cNvSpPr/>
          <p:nvPr/>
        </p:nvSpPr>
        <p:spPr>
          <a:xfrm>
            <a:off x="6720840" y="5605272"/>
            <a:ext cx="292608" cy="292608"/>
          </a:xfrm>
          <a:prstGeom prst="ellipse">
            <a:avLst/>
          </a:prstGeom>
          <a:solidFill>
            <a:srgbClr val="E7F9F1"/>
          </a:solidFill>
          <a:ln/>
        </p:spPr>
      </p:sp>
      <p:pic>
        <p:nvPicPr>
          <p:cNvPr id="52" name="Image 10" descr="/home/claude/deck/icons/check.png"/>
          <p:cNvPicPr>
            <a:picLocks noChangeAspect="1"/>
          </p:cNvPicPr>
          <p:nvPr/>
        </p:nvPicPr>
        <p:blipFill>
          <a:blip r:embed="rId3"/>
          <a:stretch>
            <a:fillRect/>
          </a:stretch>
        </p:blipFill>
        <p:spPr>
          <a:xfrm>
            <a:off x="6758879" y="5643311"/>
            <a:ext cx="216530" cy="216530"/>
          </a:xfrm>
          <a:prstGeom prst="rect">
            <a:avLst/>
          </a:prstGeom>
        </p:spPr>
      </p:pic>
      <p:sp>
        <p:nvSpPr>
          <p:cNvPr id="53" name="Text 40"/>
          <p:cNvSpPr/>
          <p:nvPr/>
        </p:nvSpPr>
        <p:spPr>
          <a:xfrm>
            <a:off x="7178040" y="5577840"/>
            <a:ext cx="4434840" cy="457200"/>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Side-by-side original vs. thumbnail preview</a:t>
            </a:r>
            <a:endParaRPr lang="en-US" sz="1250" dirty="0"/>
          </a:p>
        </p:txBody>
      </p:sp>
      <p:sp>
        <p:nvSpPr>
          <p:cNvPr id="54" name="Text 41"/>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5C6280"/>
                </a:solidFill>
                <a:latin typeface="Calibri" pitchFamily="34" charset="0"/>
                <a:ea typeface="Calibri" pitchFamily="34" charset="-122"/>
                <a:cs typeface="Calibri" pitchFamily="34" charset="-120"/>
              </a:rPr>
              <a:t>Final Prototype — UI</a:t>
            </a:r>
            <a:endParaRPr lang="en-US" sz="900" dirty="0"/>
          </a:p>
        </p:txBody>
      </p:sp>
      <p:sp>
        <p:nvSpPr>
          <p:cNvPr id="55" name="Text 42"/>
          <p:cNvSpPr/>
          <p:nvPr/>
        </p:nvSpPr>
        <p:spPr>
          <a:xfrm>
            <a:off x="9445752" y="6528816"/>
            <a:ext cx="2286000" cy="274320"/>
          </a:xfrm>
          <a:prstGeom prst="rect">
            <a:avLst/>
          </a:prstGeom>
          <a:noFill/>
          <a:ln/>
        </p:spPr>
        <p:txBody>
          <a:bodyPr wrap="square" rtlCol="0" anchor="ctr"/>
          <a:lstStyle/>
          <a:p>
            <a:pPr marL="0" indent="0" algn="r">
              <a:buNone/>
            </a:pPr>
            <a:r>
              <a:rPr lang="en-US" sz="900" dirty="0">
                <a:solidFill>
                  <a:srgbClr val="5C6280"/>
                </a:solidFill>
                <a:latin typeface="Calibri" pitchFamily="34" charset="0"/>
                <a:ea typeface="Calibri" pitchFamily="34" charset="-122"/>
                <a:cs typeface="Calibri" pitchFamily="34" charset="-120"/>
              </a:rPr>
              <a:t>TechFusion  |  04</a:t>
            </a:r>
            <a:endParaRPr lang="en-US" sz="900" dirty="0"/>
          </a:p>
        </p:txBody>
      </p:sp>
      <p:pic>
        <p:nvPicPr>
          <p:cNvPr id="57" name="Picture 56">
            <a:extLst>
              <a:ext uri="{FF2B5EF4-FFF2-40B4-BE49-F238E27FC236}">
                <a16:creationId xmlns:a16="http://schemas.microsoft.com/office/drawing/2014/main" id="{B8EDE431-9088-1539-FDEC-65A76F3F0E46}"/>
              </a:ext>
            </a:extLst>
          </p:cNvPr>
          <p:cNvPicPr>
            <a:picLocks noChangeAspect="1"/>
          </p:cNvPicPr>
          <p:nvPr/>
        </p:nvPicPr>
        <p:blipFill>
          <a:blip r:embed="rId4"/>
          <a:stretch>
            <a:fillRect/>
          </a:stretch>
        </p:blipFill>
        <p:spPr>
          <a:xfrm>
            <a:off x="655075" y="1929385"/>
            <a:ext cx="5775867" cy="41056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00C2E0"/>
                </a:solidFill>
                <a:latin typeface="Calibri" pitchFamily="34" charset="0"/>
                <a:ea typeface="Calibri" pitchFamily="34" charset="-122"/>
                <a:cs typeface="Calibri" pitchFamily="34" charset="-120"/>
              </a:rPr>
              <a:t>CLOUD ARCHITECTURE</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How the System Is Wired Together</a:t>
            </a:r>
            <a:endParaRPr lang="en-US" sz="3000" dirty="0"/>
          </a:p>
        </p:txBody>
      </p:sp>
      <p:sp>
        <p:nvSpPr>
          <p:cNvPr id="4" name="Shape 2"/>
          <p:cNvSpPr/>
          <p:nvPr/>
        </p:nvSpPr>
        <p:spPr>
          <a:xfrm>
            <a:off x="914400" y="1508760"/>
            <a:ext cx="5212080" cy="713232"/>
          </a:xfrm>
          <a:prstGeom prst="roundRect">
            <a:avLst>
              <a:gd name="adj" fmla="val 12821"/>
            </a:avLst>
          </a:prstGeom>
          <a:solidFill>
            <a:srgbClr val="161C4D"/>
          </a:solidFill>
          <a:ln w="12700">
            <a:solidFill>
              <a:srgbClr val="324086"/>
            </a:solidFill>
            <a:prstDash val="solid"/>
          </a:ln>
        </p:spPr>
      </p:sp>
      <p:sp>
        <p:nvSpPr>
          <p:cNvPr id="5" name="Shape 3"/>
          <p:cNvSpPr/>
          <p:nvPr/>
        </p:nvSpPr>
        <p:spPr>
          <a:xfrm>
            <a:off x="1042416" y="1609344"/>
            <a:ext cx="512064" cy="512064"/>
          </a:xfrm>
          <a:prstGeom prst="ellipse">
            <a:avLst/>
          </a:prstGeom>
          <a:solidFill>
            <a:srgbClr val="4A6FE3"/>
          </a:solidFill>
          <a:ln/>
        </p:spPr>
      </p:sp>
      <p:pic>
        <p:nvPicPr>
          <p:cNvPr id="6" name="Image 0" descr="/home/claude/deck/icons/browser.png"/>
          <p:cNvPicPr>
            <a:picLocks noChangeAspect="1"/>
          </p:cNvPicPr>
          <p:nvPr/>
        </p:nvPicPr>
        <p:blipFill>
          <a:blip r:embed="rId3"/>
          <a:stretch>
            <a:fillRect/>
          </a:stretch>
        </p:blipFill>
        <p:spPr>
          <a:xfrm>
            <a:off x="1108984" y="1675912"/>
            <a:ext cx="378927" cy="378927"/>
          </a:xfrm>
          <a:prstGeom prst="rect">
            <a:avLst/>
          </a:prstGeom>
        </p:spPr>
      </p:pic>
      <p:sp>
        <p:nvSpPr>
          <p:cNvPr id="7" name="Text 4"/>
          <p:cNvSpPr/>
          <p:nvPr/>
        </p:nvSpPr>
        <p:spPr>
          <a:xfrm>
            <a:off x="1691640" y="1563624"/>
            <a:ext cx="429768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Browser</a:t>
            </a:r>
            <a:endParaRPr lang="en-US" sz="1300" dirty="0"/>
          </a:p>
        </p:txBody>
      </p:sp>
      <p:sp>
        <p:nvSpPr>
          <p:cNvPr id="8" name="Text 5"/>
          <p:cNvSpPr/>
          <p:nvPr/>
        </p:nvSpPr>
        <p:spPr>
          <a:xfrm>
            <a:off x="1691640" y="1874520"/>
            <a:ext cx="4297680" cy="292608"/>
          </a:xfrm>
          <a:prstGeom prst="rect">
            <a:avLst/>
          </a:prstGeom>
          <a:noFill/>
          <a:ln/>
        </p:spPr>
        <p:txBody>
          <a:bodyPr wrap="square" rtlCol="0" anchor="ctr"/>
          <a:lstStyle/>
          <a:p>
            <a:pPr marL="0" indent="0">
              <a:buNone/>
            </a:pPr>
            <a:r>
              <a:rPr lang="en-US" sz="950" dirty="0">
                <a:solidFill>
                  <a:srgbClr val="AAB6E8"/>
                </a:solidFill>
                <a:latin typeface="Calibri" pitchFamily="34" charset="0"/>
                <a:ea typeface="Calibri" pitchFamily="34" charset="-122"/>
                <a:cs typeface="Calibri" pitchFamily="34" charset="-120"/>
              </a:rPr>
              <a:t>User interacts with the web UI</a:t>
            </a:r>
            <a:endParaRPr lang="en-US" sz="950" dirty="0"/>
          </a:p>
        </p:txBody>
      </p:sp>
      <p:sp>
        <p:nvSpPr>
          <p:cNvPr id="9" name="Shape 6"/>
          <p:cNvSpPr/>
          <p:nvPr/>
        </p:nvSpPr>
        <p:spPr>
          <a:xfrm>
            <a:off x="3392424" y="2240280"/>
            <a:ext cx="256032" cy="256032"/>
          </a:xfrm>
          <a:prstGeom prst="ellipse">
            <a:avLst/>
          </a:prstGeom>
          <a:solidFill>
            <a:srgbClr val="252E6B"/>
          </a:solidFill>
          <a:ln/>
        </p:spPr>
      </p:sp>
      <p:pic>
        <p:nvPicPr>
          <p:cNvPr id="10" name="Image 1" descr="/home/claude/deck/icons/arrowdown.png"/>
          <p:cNvPicPr>
            <a:picLocks noChangeAspect="1"/>
          </p:cNvPicPr>
          <p:nvPr/>
        </p:nvPicPr>
        <p:blipFill>
          <a:blip r:embed="rId4"/>
          <a:stretch>
            <a:fillRect/>
          </a:stretch>
        </p:blipFill>
        <p:spPr>
          <a:xfrm>
            <a:off x="3425708" y="2273564"/>
            <a:ext cx="189464" cy="189464"/>
          </a:xfrm>
          <a:prstGeom prst="rect">
            <a:avLst/>
          </a:prstGeom>
        </p:spPr>
      </p:pic>
      <p:sp>
        <p:nvSpPr>
          <p:cNvPr id="11" name="Shape 7"/>
          <p:cNvSpPr/>
          <p:nvPr/>
        </p:nvSpPr>
        <p:spPr>
          <a:xfrm>
            <a:off x="914400" y="2404872"/>
            <a:ext cx="5212080" cy="713232"/>
          </a:xfrm>
          <a:prstGeom prst="roundRect">
            <a:avLst>
              <a:gd name="adj" fmla="val 12821"/>
            </a:avLst>
          </a:prstGeom>
          <a:solidFill>
            <a:srgbClr val="161C4D"/>
          </a:solidFill>
          <a:ln w="12700">
            <a:solidFill>
              <a:srgbClr val="324086"/>
            </a:solidFill>
            <a:prstDash val="solid"/>
          </a:ln>
        </p:spPr>
      </p:sp>
      <p:sp>
        <p:nvSpPr>
          <p:cNvPr id="12" name="Shape 8"/>
          <p:cNvSpPr/>
          <p:nvPr/>
        </p:nvSpPr>
        <p:spPr>
          <a:xfrm>
            <a:off x="1042416" y="2505456"/>
            <a:ext cx="512064" cy="512064"/>
          </a:xfrm>
          <a:prstGeom prst="ellipse">
            <a:avLst/>
          </a:prstGeom>
          <a:solidFill>
            <a:srgbClr val="4A6FE3"/>
          </a:solidFill>
          <a:ln/>
        </p:spPr>
      </p:sp>
      <p:pic>
        <p:nvPicPr>
          <p:cNvPr id="13" name="Image 2" descr="/home/claude/deck/icons/php.png"/>
          <p:cNvPicPr>
            <a:picLocks noChangeAspect="1"/>
          </p:cNvPicPr>
          <p:nvPr/>
        </p:nvPicPr>
        <p:blipFill>
          <a:blip r:embed="rId5"/>
          <a:stretch>
            <a:fillRect/>
          </a:stretch>
        </p:blipFill>
        <p:spPr>
          <a:xfrm>
            <a:off x="1108984" y="2572024"/>
            <a:ext cx="378927" cy="378927"/>
          </a:xfrm>
          <a:prstGeom prst="rect">
            <a:avLst/>
          </a:prstGeom>
        </p:spPr>
      </p:pic>
      <p:sp>
        <p:nvSpPr>
          <p:cNvPr id="14" name="Text 9"/>
          <p:cNvSpPr/>
          <p:nvPr/>
        </p:nvSpPr>
        <p:spPr>
          <a:xfrm>
            <a:off x="1691640" y="2459736"/>
            <a:ext cx="429768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PHP Web App</a:t>
            </a:r>
            <a:endParaRPr lang="en-US" sz="1300" dirty="0"/>
          </a:p>
        </p:txBody>
      </p:sp>
      <p:sp>
        <p:nvSpPr>
          <p:cNvPr id="15" name="Text 10"/>
          <p:cNvSpPr/>
          <p:nvPr/>
        </p:nvSpPr>
        <p:spPr>
          <a:xfrm>
            <a:off x="1691640" y="2770632"/>
            <a:ext cx="4297680" cy="292608"/>
          </a:xfrm>
          <a:prstGeom prst="rect">
            <a:avLst/>
          </a:prstGeom>
          <a:noFill/>
          <a:ln/>
        </p:spPr>
        <p:txBody>
          <a:bodyPr wrap="square" rtlCol="0" anchor="ctr"/>
          <a:lstStyle/>
          <a:p>
            <a:pPr marL="0" indent="0">
              <a:buNone/>
            </a:pPr>
            <a:r>
              <a:rPr lang="en-US" sz="950" dirty="0">
                <a:solidFill>
                  <a:srgbClr val="AAB6E8"/>
                </a:solidFill>
                <a:latin typeface="Calibri" pitchFamily="34" charset="0"/>
                <a:ea typeface="Calibri" pitchFamily="34" charset="-122"/>
                <a:cs typeface="Calibri" pitchFamily="34" charset="-120"/>
              </a:rPr>
              <a:t>Validates &amp; handles upload</a:t>
            </a:r>
            <a:endParaRPr lang="en-US" sz="950" dirty="0"/>
          </a:p>
        </p:txBody>
      </p:sp>
      <p:sp>
        <p:nvSpPr>
          <p:cNvPr id="16" name="Shape 11"/>
          <p:cNvSpPr/>
          <p:nvPr/>
        </p:nvSpPr>
        <p:spPr>
          <a:xfrm>
            <a:off x="3392424" y="3136392"/>
            <a:ext cx="256032" cy="256032"/>
          </a:xfrm>
          <a:prstGeom prst="ellipse">
            <a:avLst/>
          </a:prstGeom>
          <a:solidFill>
            <a:srgbClr val="252E6B"/>
          </a:solidFill>
          <a:ln/>
        </p:spPr>
      </p:sp>
      <p:pic>
        <p:nvPicPr>
          <p:cNvPr id="17" name="Image 3" descr="/home/claude/deck/icons/arrowdown.png"/>
          <p:cNvPicPr>
            <a:picLocks noChangeAspect="1"/>
          </p:cNvPicPr>
          <p:nvPr/>
        </p:nvPicPr>
        <p:blipFill>
          <a:blip r:embed="rId4"/>
          <a:stretch>
            <a:fillRect/>
          </a:stretch>
        </p:blipFill>
        <p:spPr>
          <a:xfrm>
            <a:off x="3425708" y="3169676"/>
            <a:ext cx="189464" cy="189464"/>
          </a:xfrm>
          <a:prstGeom prst="rect">
            <a:avLst/>
          </a:prstGeom>
        </p:spPr>
      </p:pic>
      <p:sp>
        <p:nvSpPr>
          <p:cNvPr id="18" name="Shape 12"/>
          <p:cNvSpPr/>
          <p:nvPr/>
        </p:nvSpPr>
        <p:spPr>
          <a:xfrm>
            <a:off x="914400" y="3300984"/>
            <a:ext cx="5212080" cy="713232"/>
          </a:xfrm>
          <a:prstGeom prst="roundRect">
            <a:avLst>
              <a:gd name="adj" fmla="val 12821"/>
            </a:avLst>
          </a:prstGeom>
          <a:solidFill>
            <a:srgbClr val="161C4D"/>
          </a:solidFill>
          <a:ln w="12700">
            <a:solidFill>
              <a:srgbClr val="324086"/>
            </a:solidFill>
            <a:prstDash val="solid"/>
          </a:ln>
        </p:spPr>
      </p:sp>
      <p:sp>
        <p:nvSpPr>
          <p:cNvPr id="19" name="Shape 13"/>
          <p:cNvSpPr/>
          <p:nvPr/>
        </p:nvSpPr>
        <p:spPr>
          <a:xfrm>
            <a:off x="1042416" y="3401568"/>
            <a:ext cx="512064" cy="512064"/>
          </a:xfrm>
          <a:prstGeom prst="ellipse">
            <a:avLst/>
          </a:prstGeom>
          <a:solidFill>
            <a:srgbClr val="4A6FE3"/>
          </a:solidFill>
          <a:ln/>
        </p:spPr>
      </p:sp>
      <p:pic>
        <p:nvPicPr>
          <p:cNvPr id="20" name="Image 4" descr="/home/claude/deck/icons/s3.png"/>
          <p:cNvPicPr>
            <a:picLocks noChangeAspect="1"/>
          </p:cNvPicPr>
          <p:nvPr/>
        </p:nvPicPr>
        <p:blipFill>
          <a:blip r:embed="rId6"/>
          <a:stretch>
            <a:fillRect/>
          </a:stretch>
        </p:blipFill>
        <p:spPr>
          <a:xfrm>
            <a:off x="1108984" y="3468136"/>
            <a:ext cx="378927" cy="378927"/>
          </a:xfrm>
          <a:prstGeom prst="rect">
            <a:avLst/>
          </a:prstGeom>
        </p:spPr>
      </p:pic>
      <p:sp>
        <p:nvSpPr>
          <p:cNvPr id="21" name="Text 14"/>
          <p:cNvSpPr/>
          <p:nvPr/>
        </p:nvSpPr>
        <p:spPr>
          <a:xfrm>
            <a:off x="1691640" y="3355848"/>
            <a:ext cx="429768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S3 — uploads/</a:t>
            </a:r>
            <a:endParaRPr lang="en-US" sz="1300" dirty="0"/>
          </a:p>
        </p:txBody>
      </p:sp>
      <p:sp>
        <p:nvSpPr>
          <p:cNvPr id="22" name="Text 15"/>
          <p:cNvSpPr/>
          <p:nvPr/>
        </p:nvSpPr>
        <p:spPr>
          <a:xfrm>
            <a:off x="1691640" y="3666744"/>
            <a:ext cx="4297680" cy="292608"/>
          </a:xfrm>
          <a:prstGeom prst="rect">
            <a:avLst/>
          </a:prstGeom>
          <a:noFill/>
          <a:ln/>
        </p:spPr>
        <p:txBody>
          <a:bodyPr wrap="square" rtlCol="0" anchor="ctr"/>
          <a:lstStyle/>
          <a:p>
            <a:pPr marL="0" indent="0">
              <a:buNone/>
            </a:pPr>
            <a:r>
              <a:rPr lang="en-US" sz="950" dirty="0">
                <a:solidFill>
                  <a:srgbClr val="AAB6E8"/>
                </a:solidFill>
                <a:latin typeface="Calibri" pitchFamily="34" charset="0"/>
                <a:ea typeface="Calibri" pitchFamily="34" charset="-122"/>
                <a:cs typeface="Calibri" pitchFamily="34" charset="-120"/>
              </a:rPr>
              <a:t>Original image stored</a:t>
            </a:r>
            <a:endParaRPr lang="en-US" sz="950" dirty="0"/>
          </a:p>
        </p:txBody>
      </p:sp>
      <p:sp>
        <p:nvSpPr>
          <p:cNvPr id="23" name="Shape 16"/>
          <p:cNvSpPr/>
          <p:nvPr/>
        </p:nvSpPr>
        <p:spPr>
          <a:xfrm>
            <a:off x="3392424" y="4032504"/>
            <a:ext cx="256032" cy="256032"/>
          </a:xfrm>
          <a:prstGeom prst="ellipse">
            <a:avLst/>
          </a:prstGeom>
          <a:solidFill>
            <a:srgbClr val="252E6B"/>
          </a:solidFill>
          <a:ln/>
        </p:spPr>
      </p:sp>
      <p:pic>
        <p:nvPicPr>
          <p:cNvPr id="24" name="Image 5" descr="/home/claude/deck/icons/arrowdown.png"/>
          <p:cNvPicPr>
            <a:picLocks noChangeAspect="1"/>
          </p:cNvPicPr>
          <p:nvPr/>
        </p:nvPicPr>
        <p:blipFill>
          <a:blip r:embed="rId4"/>
          <a:stretch>
            <a:fillRect/>
          </a:stretch>
        </p:blipFill>
        <p:spPr>
          <a:xfrm>
            <a:off x="3425708" y="4065788"/>
            <a:ext cx="189464" cy="189464"/>
          </a:xfrm>
          <a:prstGeom prst="rect">
            <a:avLst/>
          </a:prstGeom>
        </p:spPr>
      </p:pic>
      <p:sp>
        <p:nvSpPr>
          <p:cNvPr id="25" name="Shape 17"/>
          <p:cNvSpPr/>
          <p:nvPr/>
        </p:nvSpPr>
        <p:spPr>
          <a:xfrm>
            <a:off x="914400" y="4197096"/>
            <a:ext cx="5212080" cy="713232"/>
          </a:xfrm>
          <a:prstGeom prst="roundRect">
            <a:avLst>
              <a:gd name="adj" fmla="val 12821"/>
            </a:avLst>
          </a:prstGeom>
          <a:solidFill>
            <a:srgbClr val="161C4D"/>
          </a:solidFill>
          <a:ln w="12700">
            <a:solidFill>
              <a:srgbClr val="324086"/>
            </a:solidFill>
            <a:prstDash val="solid"/>
          </a:ln>
        </p:spPr>
      </p:sp>
      <p:sp>
        <p:nvSpPr>
          <p:cNvPr id="26" name="Shape 18"/>
          <p:cNvSpPr/>
          <p:nvPr/>
        </p:nvSpPr>
        <p:spPr>
          <a:xfrm>
            <a:off x="1042416" y="4297680"/>
            <a:ext cx="512064" cy="512064"/>
          </a:xfrm>
          <a:prstGeom prst="ellipse">
            <a:avLst/>
          </a:prstGeom>
          <a:solidFill>
            <a:srgbClr val="4A6FE3"/>
          </a:solidFill>
          <a:ln/>
        </p:spPr>
      </p:sp>
      <p:pic>
        <p:nvPicPr>
          <p:cNvPr id="27" name="Image 6" descr="/home/claude/deck/icons/bolt.png"/>
          <p:cNvPicPr>
            <a:picLocks noChangeAspect="1"/>
          </p:cNvPicPr>
          <p:nvPr/>
        </p:nvPicPr>
        <p:blipFill>
          <a:blip r:embed="rId7"/>
          <a:stretch>
            <a:fillRect/>
          </a:stretch>
        </p:blipFill>
        <p:spPr>
          <a:xfrm>
            <a:off x="1108984" y="4364248"/>
            <a:ext cx="378927" cy="378927"/>
          </a:xfrm>
          <a:prstGeom prst="rect">
            <a:avLst/>
          </a:prstGeom>
        </p:spPr>
      </p:pic>
      <p:sp>
        <p:nvSpPr>
          <p:cNvPr id="28" name="Text 19"/>
          <p:cNvSpPr/>
          <p:nvPr/>
        </p:nvSpPr>
        <p:spPr>
          <a:xfrm>
            <a:off x="1691640" y="4251960"/>
            <a:ext cx="429768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ObjectCreated Event</a:t>
            </a:r>
            <a:endParaRPr lang="en-US" sz="1300" dirty="0"/>
          </a:p>
        </p:txBody>
      </p:sp>
      <p:sp>
        <p:nvSpPr>
          <p:cNvPr id="29" name="Text 20"/>
          <p:cNvSpPr/>
          <p:nvPr/>
        </p:nvSpPr>
        <p:spPr>
          <a:xfrm>
            <a:off x="1691640" y="4562856"/>
            <a:ext cx="4297680" cy="292608"/>
          </a:xfrm>
          <a:prstGeom prst="rect">
            <a:avLst/>
          </a:prstGeom>
          <a:noFill/>
          <a:ln/>
        </p:spPr>
        <p:txBody>
          <a:bodyPr wrap="square" rtlCol="0" anchor="ctr"/>
          <a:lstStyle/>
          <a:p>
            <a:pPr marL="0" indent="0">
              <a:buNone/>
            </a:pPr>
            <a:r>
              <a:rPr lang="en-US" sz="950" dirty="0">
                <a:solidFill>
                  <a:srgbClr val="AAB6E8"/>
                </a:solidFill>
                <a:latin typeface="Calibri" pitchFamily="34" charset="0"/>
                <a:ea typeface="Calibri" pitchFamily="34" charset="-122"/>
                <a:cs typeface="Calibri" pitchFamily="34" charset="-120"/>
              </a:rPr>
              <a:t>Auto-triggers processing</a:t>
            </a:r>
            <a:endParaRPr lang="en-US" sz="950" dirty="0"/>
          </a:p>
        </p:txBody>
      </p:sp>
      <p:sp>
        <p:nvSpPr>
          <p:cNvPr id="30" name="Shape 21"/>
          <p:cNvSpPr/>
          <p:nvPr/>
        </p:nvSpPr>
        <p:spPr>
          <a:xfrm>
            <a:off x="3392424" y="4928616"/>
            <a:ext cx="256032" cy="256032"/>
          </a:xfrm>
          <a:prstGeom prst="ellipse">
            <a:avLst/>
          </a:prstGeom>
          <a:solidFill>
            <a:srgbClr val="252E6B"/>
          </a:solidFill>
          <a:ln/>
        </p:spPr>
      </p:sp>
      <p:pic>
        <p:nvPicPr>
          <p:cNvPr id="31" name="Image 7" descr="/home/claude/deck/icons/arrowdown.png"/>
          <p:cNvPicPr>
            <a:picLocks noChangeAspect="1"/>
          </p:cNvPicPr>
          <p:nvPr/>
        </p:nvPicPr>
        <p:blipFill>
          <a:blip r:embed="rId4"/>
          <a:stretch>
            <a:fillRect/>
          </a:stretch>
        </p:blipFill>
        <p:spPr>
          <a:xfrm>
            <a:off x="3425708" y="4961900"/>
            <a:ext cx="189464" cy="189464"/>
          </a:xfrm>
          <a:prstGeom prst="rect">
            <a:avLst/>
          </a:prstGeom>
        </p:spPr>
      </p:pic>
      <p:sp>
        <p:nvSpPr>
          <p:cNvPr id="32" name="Shape 22"/>
          <p:cNvSpPr/>
          <p:nvPr/>
        </p:nvSpPr>
        <p:spPr>
          <a:xfrm>
            <a:off x="914400" y="5093208"/>
            <a:ext cx="5212080" cy="713232"/>
          </a:xfrm>
          <a:prstGeom prst="roundRect">
            <a:avLst>
              <a:gd name="adj" fmla="val 12821"/>
            </a:avLst>
          </a:prstGeom>
          <a:solidFill>
            <a:srgbClr val="161C4D"/>
          </a:solidFill>
          <a:ln w="12700">
            <a:solidFill>
              <a:srgbClr val="324086"/>
            </a:solidFill>
            <a:prstDash val="solid"/>
          </a:ln>
        </p:spPr>
      </p:sp>
      <p:sp>
        <p:nvSpPr>
          <p:cNvPr id="33" name="Shape 23"/>
          <p:cNvSpPr/>
          <p:nvPr/>
        </p:nvSpPr>
        <p:spPr>
          <a:xfrm>
            <a:off x="1042416" y="5193792"/>
            <a:ext cx="512064" cy="512064"/>
          </a:xfrm>
          <a:prstGeom prst="ellipse">
            <a:avLst/>
          </a:prstGeom>
          <a:solidFill>
            <a:srgbClr val="4A6FE3"/>
          </a:solidFill>
          <a:ln/>
        </p:spPr>
      </p:sp>
      <p:pic>
        <p:nvPicPr>
          <p:cNvPr id="34" name="Image 8" descr="/home/claude/deck/icons/lambda.png"/>
          <p:cNvPicPr>
            <a:picLocks noChangeAspect="1"/>
          </p:cNvPicPr>
          <p:nvPr/>
        </p:nvPicPr>
        <p:blipFill>
          <a:blip r:embed="rId6"/>
          <a:stretch>
            <a:fillRect/>
          </a:stretch>
        </p:blipFill>
        <p:spPr>
          <a:xfrm>
            <a:off x="1108984" y="5260360"/>
            <a:ext cx="378927" cy="378927"/>
          </a:xfrm>
          <a:prstGeom prst="rect">
            <a:avLst/>
          </a:prstGeom>
        </p:spPr>
      </p:pic>
      <p:sp>
        <p:nvSpPr>
          <p:cNvPr id="35" name="Text 24"/>
          <p:cNvSpPr/>
          <p:nvPr/>
        </p:nvSpPr>
        <p:spPr>
          <a:xfrm>
            <a:off x="1691640" y="5148072"/>
            <a:ext cx="429768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AWS Lambda</a:t>
            </a:r>
            <a:endParaRPr lang="en-US" sz="1300" dirty="0"/>
          </a:p>
        </p:txBody>
      </p:sp>
      <p:sp>
        <p:nvSpPr>
          <p:cNvPr id="36" name="Text 25"/>
          <p:cNvSpPr/>
          <p:nvPr/>
        </p:nvSpPr>
        <p:spPr>
          <a:xfrm>
            <a:off x="1691640" y="5458968"/>
            <a:ext cx="4297680" cy="292608"/>
          </a:xfrm>
          <a:prstGeom prst="rect">
            <a:avLst/>
          </a:prstGeom>
          <a:noFill/>
          <a:ln/>
        </p:spPr>
        <p:txBody>
          <a:bodyPr wrap="square" rtlCol="0" anchor="ctr"/>
          <a:lstStyle/>
          <a:p>
            <a:pPr marL="0" indent="0">
              <a:buNone/>
            </a:pPr>
            <a:r>
              <a:rPr lang="en-US" sz="950" dirty="0">
                <a:solidFill>
                  <a:srgbClr val="AAB6E8"/>
                </a:solidFill>
                <a:latin typeface="Calibri" pitchFamily="34" charset="0"/>
                <a:ea typeface="Calibri" pitchFamily="34" charset="-122"/>
                <a:cs typeface="Calibri" pitchFamily="34" charset="-120"/>
              </a:rPr>
              <a:t>Serverless compute invoked</a:t>
            </a:r>
            <a:endParaRPr lang="en-US" sz="950" dirty="0"/>
          </a:p>
        </p:txBody>
      </p:sp>
      <p:sp>
        <p:nvSpPr>
          <p:cNvPr id="37" name="Shape 26"/>
          <p:cNvSpPr/>
          <p:nvPr/>
        </p:nvSpPr>
        <p:spPr>
          <a:xfrm>
            <a:off x="6400800" y="1508760"/>
            <a:ext cx="5212080" cy="713232"/>
          </a:xfrm>
          <a:prstGeom prst="roundRect">
            <a:avLst>
              <a:gd name="adj" fmla="val 12821"/>
            </a:avLst>
          </a:prstGeom>
          <a:solidFill>
            <a:srgbClr val="161C4D"/>
          </a:solidFill>
          <a:ln w="12700">
            <a:solidFill>
              <a:srgbClr val="324086"/>
            </a:solidFill>
            <a:prstDash val="solid"/>
          </a:ln>
        </p:spPr>
      </p:sp>
      <p:sp>
        <p:nvSpPr>
          <p:cNvPr id="38" name="Shape 27"/>
          <p:cNvSpPr/>
          <p:nvPr/>
        </p:nvSpPr>
        <p:spPr>
          <a:xfrm>
            <a:off x="6528816" y="1609344"/>
            <a:ext cx="512064" cy="512064"/>
          </a:xfrm>
          <a:prstGeom prst="ellipse">
            <a:avLst/>
          </a:prstGeom>
          <a:solidFill>
            <a:srgbClr val="4A6FE3"/>
          </a:solidFill>
          <a:ln/>
        </p:spPr>
      </p:sp>
      <p:pic>
        <p:nvPicPr>
          <p:cNvPr id="39" name="Image 9" descr="/home/claude/deck/icons/python.png"/>
          <p:cNvPicPr>
            <a:picLocks noChangeAspect="1"/>
          </p:cNvPicPr>
          <p:nvPr/>
        </p:nvPicPr>
        <p:blipFill>
          <a:blip r:embed="rId8"/>
          <a:stretch>
            <a:fillRect/>
          </a:stretch>
        </p:blipFill>
        <p:spPr>
          <a:xfrm>
            <a:off x="6595384" y="1675912"/>
            <a:ext cx="378927" cy="378927"/>
          </a:xfrm>
          <a:prstGeom prst="rect">
            <a:avLst/>
          </a:prstGeom>
        </p:spPr>
      </p:pic>
      <p:sp>
        <p:nvSpPr>
          <p:cNvPr id="40" name="Text 28"/>
          <p:cNvSpPr/>
          <p:nvPr/>
        </p:nvSpPr>
        <p:spPr>
          <a:xfrm>
            <a:off x="7178040" y="1563624"/>
            <a:ext cx="429768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Python + Pillow</a:t>
            </a:r>
            <a:endParaRPr lang="en-US" sz="1300" dirty="0"/>
          </a:p>
        </p:txBody>
      </p:sp>
      <p:sp>
        <p:nvSpPr>
          <p:cNvPr id="41" name="Text 29"/>
          <p:cNvSpPr/>
          <p:nvPr/>
        </p:nvSpPr>
        <p:spPr>
          <a:xfrm>
            <a:off x="7178040" y="1874520"/>
            <a:ext cx="4297680" cy="292608"/>
          </a:xfrm>
          <a:prstGeom prst="rect">
            <a:avLst/>
          </a:prstGeom>
          <a:noFill/>
          <a:ln/>
        </p:spPr>
        <p:txBody>
          <a:bodyPr wrap="square" rtlCol="0" anchor="ctr"/>
          <a:lstStyle/>
          <a:p>
            <a:pPr marL="0" indent="0">
              <a:buNone/>
            </a:pPr>
            <a:r>
              <a:rPr lang="en-US" sz="950" dirty="0">
                <a:solidFill>
                  <a:srgbClr val="AAB6E8"/>
                </a:solidFill>
                <a:latin typeface="Calibri" pitchFamily="34" charset="0"/>
                <a:ea typeface="Calibri" pitchFamily="34" charset="-122"/>
                <a:cs typeface="Calibri" pitchFamily="34" charset="-120"/>
              </a:rPr>
              <a:t>Resizes &amp; converts image</a:t>
            </a:r>
            <a:endParaRPr lang="en-US" sz="950" dirty="0"/>
          </a:p>
        </p:txBody>
      </p:sp>
      <p:sp>
        <p:nvSpPr>
          <p:cNvPr id="42" name="Shape 30"/>
          <p:cNvSpPr/>
          <p:nvPr/>
        </p:nvSpPr>
        <p:spPr>
          <a:xfrm>
            <a:off x="8878824" y="2240280"/>
            <a:ext cx="256032" cy="256032"/>
          </a:xfrm>
          <a:prstGeom prst="ellipse">
            <a:avLst/>
          </a:prstGeom>
          <a:solidFill>
            <a:srgbClr val="252E6B"/>
          </a:solidFill>
          <a:ln/>
        </p:spPr>
      </p:sp>
      <p:pic>
        <p:nvPicPr>
          <p:cNvPr id="43" name="Image 10" descr="/home/claude/deck/icons/arrowdown.png"/>
          <p:cNvPicPr>
            <a:picLocks noChangeAspect="1"/>
          </p:cNvPicPr>
          <p:nvPr/>
        </p:nvPicPr>
        <p:blipFill>
          <a:blip r:embed="rId4"/>
          <a:stretch>
            <a:fillRect/>
          </a:stretch>
        </p:blipFill>
        <p:spPr>
          <a:xfrm>
            <a:off x="8912108" y="2273564"/>
            <a:ext cx="189464" cy="189464"/>
          </a:xfrm>
          <a:prstGeom prst="rect">
            <a:avLst/>
          </a:prstGeom>
        </p:spPr>
      </p:pic>
      <p:sp>
        <p:nvSpPr>
          <p:cNvPr id="44" name="Shape 31"/>
          <p:cNvSpPr/>
          <p:nvPr/>
        </p:nvSpPr>
        <p:spPr>
          <a:xfrm>
            <a:off x="6400800" y="2404872"/>
            <a:ext cx="5212080" cy="713232"/>
          </a:xfrm>
          <a:prstGeom prst="roundRect">
            <a:avLst>
              <a:gd name="adj" fmla="val 12821"/>
            </a:avLst>
          </a:prstGeom>
          <a:solidFill>
            <a:srgbClr val="161C4D"/>
          </a:solidFill>
          <a:ln w="12700">
            <a:solidFill>
              <a:srgbClr val="324086"/>
            </a:solidFill>
            <a:prstDash val="solid"/>
          </a:ln>
        </p:spPr>
      </p:sp>
      <p:sp>
        <p:nvSpPr>
          <p:cNvPr id="45" name="Shape 32"/>
          <p:cNvSpPr/>
          <p:nvPr/>
        </p:nvSpPr>
        <p:spPr>
          <a:xfrm>
            <a:off x="6528816" y="2505456"/>
            <a:ext cx="512064" cy="512064"/>
          </a:xfrm>
          <a:prstGeom prst="ellipse">
            <a:avLst/>
          </a:prstGeom>
          <a:solidFill>
            <a:srgbClr val="4A6FE3"/>
          </a:solidFill>
          <a:ln/>
        </p:spPr>
      </p:sp>
      <p:pic>
        <p:nvPicPr>
          <p:cNvPr id="46" name="Image 11" descr="/home/claude/deck/icons/s3.png"/>
          <p:cNvPicPr>
            <a:picLocks noChangeAspect="1"/>
          </p:cNvPicPr>
          <p:nvPr/>
        </p:nvPicPr>
        <p:blipFill>
          <a:blip r:embed="rId6"/>
          <a:stretch>
            <a:fillRect/>
          </a:stretch>
        </p:blipFill>
        <p:spPr>
          <a:xfrm>
            <a:off x="6595384" y="2572024"/>
            <a:ext cx="378927" cy="378927"/>
          </a:xfrm>
          <a:prstGeom prst="rect">
            <a:avLst/>
          </a:prstGeom>
        </p:spPr>
      </p:pic>
      <p:sp>
        <p:nvSpPr>
          <p:cNvPr id="47" name="Text 33"/>
          <p:cNvSpPr/>
          <p:nvPr/>
        </p:nvSpPr>
        <p:spPr>
          <a:xfrm>
            <a:off x="7178040" y="2459736"/>
            <a:ext cx="429768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S3 — thumbnails/</a:t>
            </a:r>
            <a:endParaRPr lang="en-US" sz="1300" dirty="0"/>
          </a:p>
        </p:txBody>
      </p:sp>
      <p:sp>
        <p:nvSpPr>
          <p:cNvPr id="48" name="Text 34"/>
          <p:cNvSpPr/>
          <p:nvPr/>
        </p:nvSpPr>
        <p:spPr>
          <a:xfrm>
            <a:off x="7178040" y="2770632"/>
            <a:ext cx="4297680" cy="292608"/>
          </a:xfrm>
          <a:prstGeom prst="rect">
            <a:avLst/>
          </a:prstGeom>
          <a:noFill/>
          <a:ln/>
        </p:spPr>
        <p:txBody>
          <a:bodyPr wrap="square" rtlCol="0" anchor="ctr"/>
          <a:lstStyle/>
          <a:p>
            <a:pPr marL="0" indent="0">
              <a:buNone/>
            </a:pPr>
            <a:r>
              <a:rPr lang="en-US" sz="950" dirty="0">
                <a:solidFill>
                  <a:srgbClr val="AAB6E8"/>
                </a:solidFill>
                <a:latin typeface="Calibri" pitchFamily="34" charset="0"/>
                <a:ea typeface="Calibri" pitchFamily="34" charset="-122"/>
                <a:cs typeface="Calibri" pitchFamily="34" charset="-120"/>
              </a:rPr>
              <a:t>Thumbnail stored</a:t>
            </a:r>
            <a:endParaRPr lang="en-US" sz="950" dirty="0"/>
          </a:p>
        </p:txBody>
      </p:sp>
      <p:sp>
        <p:nvSpPr>
          <p:cNvPr id="49" name="Shape 35"/>
          <p:cNvSpPr/>
          <p:nvPr/>
        </p:nvSpPr>
        <p:spPr>
          <a:xfrm>
            <a:off x="8878824" y="3136392"/>
            <a:ext cx="256032" cy="256032"/>
          </a:xfrm>
          <a:prstGeom prst="ellipse">
            <a:avLst/>
          </a:prstGeom>
          <a:solidFill>
            <a:srgbClr val="252E6B"/>
          </a:solidFill>
          <a:ln/>
        </p:spPr>
      </p:sp>
      <p:pic>
        <p:nvPicPr>
          <p:cNvPr id="50" name="Image 12" descr="/home/claude/deck/icons/arrowdown.png"/>
          <p:cNvPicPr>
            <a:picLocks noChangeAspect="1"/>
          </p:cNvPicPr>
          <p:nvPr/>
        </p:nvPicPr>
        <p:blipFill>
          <a:blip r:embed="rId4"/>
          <a:stretch>
            <a:fillRect/>
          </a:stretch>
        </p:blipFill>
        <p:spPr>
          <a:xfrm>
            <a:off x="8912108" y="3169676"/>
            <a:ext cx="189464" cy="189464"/>
          </a:xfrm>
          <a:prstGeom prst="rect">
            <a:avLst/>
          </a:prstGeom>
        </p:spPr>
      </p:pic>
      <p:sp>
        <p:nvSpPr>
          <p:cNvPr id="51" name="Shape 36"/>
          <p:cNvSpPr/>
          <p:nvPr/>
        </p:nvSpPr>
        <p:spPr>
          <a:xfrm>
            <a:off x="6400800" y="3300984"/>
            <a:ext cx="5212080" cy="713232"/>
          </a:xfrm>
          <a:prstGeom prst="roundRect">
            <a:avLst>
              <a:gd name="adj" fmla="val 12821"/>
            </a:avLst>
          </a:prstGeom>
          <a:solidFill>
            <a:srgbClr val="161C4D"/>
          </a:solidFill>
          <a:ln w="12700">
            <a:solidFill>
              <a:srgbClr val="324086"/>
            </a:solidFill>
            <a:prstDash val="solid"/>
          </a:ln>
        </p:spPr>
      </p:sp>
      <p:sp>
        <p:nvSpPr>
          <p:cNvPr id="52" name="Shape 37"/>
          <p:cNvSpPr/>
          <p:nvPr/>
        </p:nvSpPr>
        <p:spPr>
          <a:xfrm>
            <a:off x="6528816" y="3401568"/>
            <a:ext cx="512064" cy="512064"/>
          </a:xfrm>
          <a:prstGeom prst="ellipse">
            <a:avLst/>
          </a:prstGeom>
          <a:solidFill>
            <a:srgbClr val="4A6FE3"/>
          </a:solidFill>
          <a:ln/>
        </p:spPr>
      </p:sp>
      <p:pic>
        <p:nvPicPr>
          <p:cNvPr id="53" name="Image 13" descr="/home/claude/deck/icons/php.png"/>
          <p:cNvPicPr>
            <a:picLocks noChangeAspect="1"/>
          </p:cNvPicPr>
          <p:nvPr/>
        </p:nvPicPr>
        <p:blipFill>
          <a:blip r:embed="rId5"/>
          <a:stretch>
            <a:fillRect/>
          </a:stretch>
        </p:blipFill>
        <p:spPr>
          <a:xfrm>
            <a:off x="6595384" y="3468136"/>
            <a:ext cx="378927" cy="378927"/>
          </a:xfrm>
          <a:prstGeom prst="rect">
            <a:avLst/>
          </a:prstGeom>
        </p:spPr>
      </p:pic>
      <p:sp>
        <p:nvSpPr>
          <p:cNvPr id="54" name="Text 38"/>
          <p:cNvSpPr/>
          <p:nvPr/>
        </p:nvSpPr>
        <p:spPr>
          <a:xfrm>
            <a:off x="7178040" y="3355848"/>
            <a:ext cx="429768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check_thumbnail.php</a:t>
            </a:r>
            <a:endParaRPr lang="en-US" sz="1300" dirty="0"/>
          </a:p>
        </p:txBody>
      </p:sp>
      <p:sp>
        <p:nvSpPr>
          <p:cNvPr id="55" name="Text 39"/>
          <p:cNvSpPr/>
          <p:nvPr/>
        </p:nvSpPr>
        <p:spPr>
          <a:xfrm>
            <a:off x="7178040" y="3666744"/>
            <a:ext cx="4297680" cy="292608"/>
          </a:xfrm>
          <a:prstGeom prst="rect">
            <a:avLst/>
          </a:prstGeom>
          <a:noFill/>
          <a:ln/>
        </p:spPr>
        <p:txBody>
          <a:bodyPr wrap="square" rtlCol="0" anchor="ctr"/>
          <a:lstStyle/>
          <a:p>
            <a:pPr marL="0" indent="0">
              <a:buNone/>
            </a:pPr>
            <a:r>
              <a:rPr lang="en-US" sz="950" dirty="0">
                <a:solidFill>
                  <a:srgbClr val="AAB6E8"/>
                </a:solidFill>
                <a:latin typeface="Calibri" pitchFamily="34" charset="0"/>
                <a:ea typeface="Calibri" pitchFamily="34" charset="-122"/>
                <a:cs typeface="Calibri" pitchFamily="34" charset="-120"/>
              </a:rPr>
              <a:t>Polls for completion</a:t>
            </a:r>
            <a:endParaRPr lang="en-US" sz="950" dirty="0"/>
          </a:p>
        </p:txBody>
      </p:sp>
      <p:sp>
        <p:nvSpPr>
          <p:cNvPr id="56" name="Shape 40"/>
          <p:cNvSpPr/>
          <p:nvPr/>
        </p:nvSpPr>
        <p:spPr>
          <a:xfrm>
            <a:off x="8878824" y="4032504"/>
            <a:ext cx="256032" cy="256032"/>
          </a:xfrm>
          <a:prstGeom prst="ellipse">
            <a:avLst/>
          </a:prstGeom>
          <a:solidFill>
            <a:srgbClr val="252E6B"/>
          </a:solidFill>
          <a:ln/>
        </p:spPr>
      </p:sp>
      <p:pic>
        <p:nvPicPr>
          <p:cNvPr id="57" name="Image 14" descr="/home/claude/deck/icons/arrowdown.png"/>
          <p:cNvPicPr>
            <a:picLocks noChangeAspect="1"/>
          </p:cNvPicPr>
          <p:nvPr/>
        </p:nvPicPr>
        <p:blipFill>
          <a:blip r:embed="rId4"/>
          <a:stretch>
            <a:fillRect/>
          </a:stretch>
        </p:blipFill>
        <p:spPr>
          <a:xfrm>
            <a:off x="8912108" y="4065788"/>
            <a:ext cx="189464" cy="189464"/>
          </a:xfrm>
          <a:prstGeom prst="rect">
            <a:avLst/>
          </a:prstGeom>
        </p:spPr>
      </p:pic>
      <p:sp>
        <p:nvSpPr>
          <p:cNvPr id="58" name="Shape 41"/>
          <p:cNvSpPr/>
          <p:nvPr/>
        </p:nvSpPr>
        <p:spPr>
          <a:xfrm>
            <a:off x="6400800" y="4197096"/>
            <a:ext cx="5212080" cy="713232"/>
          </a:xfrm>
          <a:prstGeom prst="roundRect">
            <a:avLst>
              <a:gd name="adj" fmla="val 12821"/>
            </a:avLst>
          </a:prstGeom>
          <a:solidFill>
            <a:srgbClr val="161C4D"/>
          </a:solidFill>
          <a:ln w="12700">
            <a:solidFill>
              <a:srgbClr val="324086"/>
            </a:solidFill>
            <a:prstDash val="solid"/>
          </a:ln>
        </p:spPr>
      </p:sp>
      <p:sp>
        <p:nvSpPr>
          <p:cNvPr id="59" name="Shape 42"/>
          <p:cNvSpPr/>
          <p:nvPr/>
        </p:nvSpPr>
        <p:spPr>
          <a:xfrm>
            <a:off x="6528816" y="4297680"/>
            <a:ext cx="512064" cy="512064"/>
          </a:xfrm>
          <a:prstGeom prst="ellipse">
            <a:avLst/>
          </a:prstGeom>
          <a:solidFill>
            <a:srgbClr val="4A6FE3"/>
          </a:solidFill>
          <a:ln/>
        </p:spPr>
      </p:sp>
      <p:pic>
        <p:nvPicPr>
          <p:cNvPr id="60" name="Image 15" descr="/home/claude/deck/icons/key.png"/>
          <p:cNvPicPr>
            <a:picLocks noChangeAspect="1"/>
          </p:cNvPicPr>
          <p:nvPr/>
        </p:nvPicPr>
        <p:blipFill>
          <a:blip r:embed="rId9"/>
          <a:stretch>
            <a:fillRect/>
          </a:stretch>
        </p:blipFill>
        <p:spPr>
          <a:xfrm>
            <a:off x="6595384" y="4364248"/>
            <a:ext cx="378927" cy="378927"/>
          </a:xfrm>
          <a:prstGeom prst="rect">
            <a:avLst/>
          </a:prstGeom>
        </p:spPr>
      </p:pic>
      <p:sp>
        <p:nvSpPr>
          <p:cNvPr id="61" name="Text 43"/>
          <p:cNvSpPr/>
          <p:nvPr/>
        </p:nvSpPr>
        <p:spPr>
          <a:xfrm>
            <a:off x="7178040" y="4251960"/>
            <a:ext cx="429768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Presigned URL</a:t>
            </a:r>
            <a:endParaRPr lang="en-US" sz="1300" dirty="0"/>
          </a:p>
        </p:txBody>
      </p:sp>
      <p:sp>
        <p:nvSpPr>
          <p:cNvPr id="62" name="Text 44"/>
          <p:cNvSpPr/>
          <p:nvPr/>
        </p:nvSpPr>
        <p:spPr>
          <a:xfrm>
            <a:off x="7178040" y="4562856"/>
            <a:ext cx="4297680" cy="292608"/>
          </a:xfrm>
          <a:prstGeom prst="rect">
            <a:avLst/>
          </a:prstGeom>
          <a:noFill/>
          <a:ln/>
        </p:spPr>
        <p:txBody>
          <a:bodyPr wrap="square" rtlCol="0" anchor="ctr"/>
          <a:lstStyle/>
          <a:p>
            <a:pPr marL="0" indent="0">
              <a:buNone/>
            </a:pPr>
            <a:r>
              <a:rPr lang="en-US" sz="950" dirty="0">
                <a:solidFill>
                  <a:srgbClr val="AAB6E8"/>
                </a:solidFill>
                <a:latin typeface="Calibri" pitchFamily="34" charset="0"/>
                <a:ea typeface="Calibri" pitchFamily="34" charset="-122"/>
                <a:cs typeface="Calibri" pitchFamily="34" charset="-120"/>
              </a:rPr>
              <a:t>Secure, time-limited link</a:t>
            </a:r>
            <a:endParaRPr lang="en-US" sz="950" dirty="0"/>
          </a:p>
        </p:txBody>
      </p:sp>
      <p:sp>
        <p:nvSpPr>
          <p:cNvPr id="63" name="Shape 45"/>
          <p:cNvSpPr/>
          <p:nvPr/>
        </p:nvSpPr>
        <p:spPr>
          <a:xfrm>
            <a:off x="8878824" y="4928616"/>
            <a:ext cx="256032" cy="256032"/>
          </a:xfrm>
          <a:prstGeom prst="ellipse">
            <a:avLst/>
          </a:prstGeom>
          <a:solidFill>
            <a:srgbClr val="252E6B"/>
          </a:solidFill>
          <a:ln/>
        </p:spPr>
      </p:sp>
      <p:pic>
        <p:nvPicPr>
          <p:cNvPr id="64" name="Image 16" descr="/home/claude/deck/icons/arrowdown.png"/>
          <p:cNvPicPr>
            <a:picLocks noChangeAspect="1"/>
          </p:cNvPicPr>
          <p:nvPr/>
        </p:nvPicPr>
        <p:blipFill>
          <a:blip r:embed="rId4"/>
          <a:stretch>
            <a:fillRect/>
          </a:stretch>
        </p:blipFill>
        <p:spPr>
          <a:xfrm>
            <a:off x="8912108" y="4961900"/>
            <a:ext cx="189464" cy="189464"/>
          </a:xfrm>
          <a:prstGeom prst="rect">
            <a:avLst/>
          </a:prstGeom>
        </p:spPr>
      </p:pic>
      <p:sp>
        <p:nvSpPr>
          <p:cNvPr id="65" name="Shape 46"/>
          <p:cNvSpPr/>
          <p:nvPr/>
        </p:nvSpPr>
        <p:spPr>
          <a:xfrm>
            <a:off x="6400800" y="5093208"/>
            <a:ext cx="5212080" cy="713232"/>
          </a:xfrm>
          <a:prstGeom prst="roundRect">
            <a:avLst>
              <a:gd name="adj" fmla="val 12821"/>
            </a:avLst>
          </a:prstGeom>
          <a:solidFill>
            <a:srgbClr val="161C4D"/>
          </a:solidFill>
          <a:ln w="12700">
            <a:solidFill>
              <a:srgbClr val="324086"/>
            </a:solidFill>
            <a:prstDash val="solid"/>
          </a:ln>
        </p:spPr>
      </p:sp>
      <p:sp>
        <p:nvSpPr>
          <p:cNvPr id="66" name="Shape 47"/>
          <p:cNvSpPr/>
          <p:nvPr/>
        </p:nvSpPr>
        <p:spPr>
          <a:xfrm>
            <a:off x="6528816" y="5193792"/>
            <a:ext cx="512064" cy="512064"/>
          </a:xfrm>
          <a:prstGeom prst="ellipse">
            <a:avLst/>
          </a:prstGeom>
          <a:solidFill>
            <a:srgbClr val="4A6FE3"/>
          </a:solidFill>
          <a:ln/>
        </p:spPr>
      </p:sp>
      <p:pic>
        <p:nvPicPr>
          <p:cNvPr id="67" name="Image 17" descr="/home/claude/deck/icons/eye.png"/>
          <p:cNvPicPr>
            <a:picLocks noChangeAspect="1"/>
          </p:cNvPicPr>
          <p:nvPr/>
        </p:nvPicPr>
        <p:blipFill>
          <a:blip r:embed="rId10"/>
          <a:stretch>
            <a:fillRect/>
          </a:stretch>
        </p:blipFill>
        <p:spPr>
          <a:xfrm>
            <a:off x="6595384" y="5260360"/>
            <a:ext cx="378927" cy="378927"/>
          </a:xfrm>
          <a:prstGeom prst="rect">
            <a:avLst/>
          </a:prstGeom>
        </p:spPr>
      </p:pic>
      <p:sp>
        <p:nvSpPr>
          <p:cNvPr id="68" name="Text 48"/>
          <p:cNvSpPr/>
          <p:nvPr/>
        </p:nvSpPr>
        <p:spPr>
          <a:xfrm>
            <a:off x="7178040" y="5148072"/>
            <a:ext cx="429768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Browser Displays Result</a:t>
            </a:r>
            <a:endParaRPr lang="en-US" sz="1300" dirty="0"/>
          </a:p>
        </p:txBody>
      </p:sp>
      <p:sp>
        <p:nvSpPr>
          <p:cNvPr id="69" name="Text 49"/>
          <p:cNvSpPr/>
          <p:nvPr/>
        </p:nvSpPr>
        <p:spPr>
          <a:xfrm>
            <a:off x="7178040" y="5458968"/>
            <a:ext cx="4297680" cy="292608"/>
          </a:xfrm>
          <a:prstGeom prst="rect">
            <a:avLst/>
          </a:prstGeom>
          <a:noFill/>
          <a:ln/>
        </p:spPr>
        <p:txBody>
          <a:bodyPr wrap="square" rtlCol="0" anchor="ctr"/>
          <a:lstStyle/>
          <a:p>
            <a:pPr marL="0" indent="0">
              <a:buNone/>
            </a:pPr>
            <a:r>
              <a:rPr lang="en-US" sz="950" dirty="0">
                <a:solidFill>
                  <a:srgbClr val="AAB6E8"/>
                </a:solidFill>
                <a:latin typeface="Calibri" pitchFamily="34" charset="0"/>
                <a:ea typeface="Calibri" pitchFamily="34" charset="-122"/>
                <a:cs typeface="Calibri" pitchFamily="34" charset="-120"/>
              </a:rPr>
              <a:t>Original + thumbnail shown</a:t>
            </a:r>
            <a:endParaRPr lang="en-US" sz="950" dirty="0"/>
          </a:p>
        </p:txBody>
      </p:sp>
      <p:sp>
        <p:nvSpPr>
          <p:cNvPr id="71" name="Text 51"/>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5C6280"/>
                </a:solidFill>
                <a:latin typeface="Calibri" pitchFamily="34" charset="0"/>
                <a:ea typeface="Calibri" pitchFamily="34" charset="-122"/>
                <a:cs typeface="Calibri" pitchFamily="34" charset="-120"/>
              </a:rPr>
              <a:t>System Architecture</a:t>
            </a:r>
            <a:endParaRPr lang="en-US" sz="900" dirty="0"/>
          </a:p>
        </p:txBody>
      </p:sp>
      <p:sp>
        <p:nvSpPr>
          <p:cNvPr id="72" name="Text 52"/>
          <p:cNvSpPr/>
          <p:nvPr/>
        </p:nvSpPr>
        <p:spPr>
          <a:xfrm>
            <a:off x="9445752" y="6528816"/>
            <a:ext cx="2286000" cy="274320"/>
          </a:xfrm>
          <a:prstGeom prst="rect">
            <a:avLst/>
          </a:prstGeom>
          <a:noFill/>
          <a:ln/>
        </p:spPr>
        <p:txBody>
          <a:bodyPr wrap="square" rtlCol="0" anchor="ctr"/>
          <a:lstStyle/>
          <a:p>
            <a:pPr marL="0" indent="0" algn="r">
              <a:buNone/>
            </a:pPr>
            <a:r>
              <a:rPr lang="en-US" sz="900" dirty="0">
                <a:solidFill>
                  <a:srgbClr val="5C6280"/>
                </a:solidFill>
                <a:latin typeface="Calibri" pitchFamily="34" charset="0"/>
                <a:ea typeface="Calibri" pitchFamily="34" charset="-122"/>
                <a:cs typeface="Calibri" pitchFamily="34" charset="-120"/>
              </a:rPr>
              <a:t>TechFusion  |  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E"/>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4A6FE3"/>
                </a:solidFill>
                <a:latin typeface="Calibri" pitchFamily="34" charset="0"/>
                <a:ea typeface="Calibri" pitchFamily="34" charset="-122"/>
                <a:cs typeface="Calibri" pitchFamily="34" charset="-120"/>
              </a:rPr>
              <a:t>DATA FLOW</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End-to-End Working — Step by Step</a:t>
            </a:r>
            <a:endParaRPr lang="en-US" sz="3000" dirty="0"/>
          </a:p>
        </p:txBody>
      </p:sp>
      <p:sp>
        <p:nvSpPr>
          <p:cNvPr id="4" name="Shape 2"/>
          <p:cNvSpPr/>
          <p:nvPr/>
        </p:nvSpPr>
        <p:spPr>
          <a:xfrm>
            <a:off x="548640" y="1463040"/>
            <a:ext cx="384048" cy="384048"/>
          </a:xfrm>
          <a:prstGeom prst="ellipse">
            <a:avLst/>
          </a:prstGeom>
          <a:solidFill>
            <a:srgbClr val="4A6FE3"/>
          </a:solidFill>
          <a:ln/>
        </p:spPr>
      </p:sp>
      <p:sp>
        <p:nvSpPr>
          <p:cNvPr id="5" name="Text 3"/>
          <p:cNvSpPr/>
          <p:nvPr/>
        </p:nvSpPr>
        <p:spPr>
          <a:xfrm>
            <a:off x="548640" y="146304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51560" y="1435608"/>
            <a:ext cx="47548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User selects or drags an image into the browser</a:t>
            </a:r>
            <a:endParaRPr lang="en-US" sz="1150" dirty="0"/>
          </a:p>
        </p:txBody>
      </p:sp>
      <p:sp>
        <p:nvSpPr>
          <p:cNvPr id="7" name="Shape 5"/>
          <p:cNvSpPr/>
          <p:nvPr/>
        </p:nvSpPr>
        <p:spPr>
          <a:xfrm>
            <a:off x="548640" y="2039112"/>
            <a:ext cx="384048" cy="384048"/>
          </a:xfrm>
          <a:prstGeom prst="ellipse">
            <a:avLst/>
          </a:prstGeom>
          <a:solidFill>
            <a:srgbClr val="4A6FE3"/>
          </a:solidFill>
          <a:ln/>
        </p:spPr>
      </p:sp>
      <p:sp>
        <p:nvSpPr>
          <p:cNvPr id="8" name="Text 6"/>
          <p:cNvSpPr/>
          <p:nvPr/>
        </p:nvSpPr>
        <p:spPr>
          <a:xfrm>
            <a:off x="548640" y="2039112"/>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1051560" y="2011680"/>
            <a:ext cx="47548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Client-side JavaScript validates file type &amp; size</a:t>
            </a:r>
            <a:endParaRPr lang="en-US" sz="1150" dirty="0"/>
          </a:p>
        </p:txBody>
      </p:sp>
      <p:sp>
        <p:nvSpPr>
          <p:cNvPr id="10" name="Shape 8"/>
          <p:cNvSpPr/>
          <p:nvPr/>
        </p:nvSpPr>
        <p:spPr>
          <a:xfrm>
            <a:off x="548640" y="2615184"/>
            <a:ext cx="384048" cy="384048"/>
          </a:xfrm>
          <a:prstGeom prst="ellipse">
            <a:avLst/>
          </a:prstGeom>
          <a:solidFill>
            <a:srgbClr val="4A6FE3"/>
          </a:solidFill>
          <a:ln/>
        </p:spPr>
      </p:sp>
      <p:sp>
        <p:nvSpPr>
          <p:cNvPr id="11" name="Text 9"/>
          <p:cNvSpPr/>
          <p:nvPr/>
        </p:nvSpPr>
        <p:spPr>
          <a:xfrm>
            <a:off x="548640" y="2615184"/>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p:nvPr/>
        </p:nvSpPr>
        <p:spPr>
          <a:xfrm>
            <a:off x="1051560" y="2587752"/>
            <a:ext cx="47548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PHP validates the uploaded file server-side</a:t>
            </a:r>
            <a:endParaRPr lang="en-US" sz="1150" dirty="0"/>
          </a:p>
        </p:txBody>
      </p:sp>
      <p:sp>
        <p:nvSpPr>
          <p:cNvPr id="13" name="Shape 11"/>
          <p:cNvSpPr/>
          <p:nvPr/>
        </p:nvSpPr>
        <p:spPr>
          <a:xfrm>
            <a:off x="548640" y="3191256"/>
            <a:ext cx="384048" cy="384048"/>
          </a:xfrm>
          <a:prstGeom prst="ellipse">
            <a:avLst/>
          </a:prstGeom>
          <a:solidFill>
            <a:srgbClr val="4A6FE3"/>
          </a:solidFill>
          <a:ln/>
        </p:spPr>
      </p:sp>
      <p:sp>
        <p:nvSpPr>
          <p:cNvPr id="14" name="Text 12"/>
          <p:cNvSpPr/>
          <p:nvPr/>
        </p:nvSpPr>
        <p:spPr>
          <a:xfrm>
            <a:off x="548640" y="3191256"/>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p:nvPr/>
        </p:nvSpPr>
        <p:spPr>
          <a:xfrm>
            <a:off x="1051560" y="3163824"/>
            <a:ext cx="47548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A unique filename is generated</a:t>
            </a:r>
            <a:endParaRPr lang="en-US" sz="1150" dirty="0"/>
          </a:p>
        </p:txBody>
      </p:sp>
      <p:sp>
        <p:nvSpPr>
          <p:cNvPr id="16" name="Shape 14"/>
          <p:cNvSpPr/>
          <p:nvPr/>
        </p:nvSpPr>
        <p:spPr>
          <a:xfrm>
            <a:off x="548640" y="3767328"/>
            <a:ext cx="384048" cy="384048"/>
          </a:xfrm>
          <a:prstGeom prst="ellipse">
            <a:avLst/>
          </a:prstGeom>
          <a:solidFill>
            <a:srgbClr val="4A6FE3"/>
          </a:solidFill>
          <a:ln/>
        </p:spPr>
      </p:sp>
      <p:sp>
        <p:nvSpPr>
          <p:cNvPr id="17" name="Text 15"/>
          <p:cNvSpPr/>
          <p:nvPr/>
        </p:nvSpPr>
        <p:spPr>
          <a:xfrm>
            <a:off x="548640" y="3767328"/>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Text 16"/>
          <p:cNvSpPr/>
          <p:nvPr/>
        </p:nvSpPr>
        <p:spPr>
          <a:xfrm>
            <a:off x="1051560" y="3739896"/>
            <a:ext cx="47548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PHP uploads the original image to S3 uploads/</a:t>
            </a:r>
            <a:endParaRPr lang="en-US" sz="1150" dirty="0"/>
          </a:p>
        </p:txBody>
      </p:sp>
      <p:sp>
        <p:nvSpPr>
          <p:cNvPr id="19" name="Shape 17"/>
          <p:cNvSpPr/>
          <p:nvPr/>
        </p:nvSpPr>
        <p:spPr>
          <a:xfrm>
            <a:off x="548640" y="4343400"/>
            <a:ext cx="384048" cy="384048"/>
          </a:xfrm>
          <a:prstGeom prst="ellipse">
            <a:avLst/>
          </a:prstGeom>
          <a:solidFill>
            <a:srgbClr val="1E2761"/>
          </a:solidFill>
          <a:ln/>
        </p:spPr>
      </p:sp>
      <p:sp>
        <p:nvSpPr>
          <p:cNvPr id="20" name="Text 18"/>
          <p:cNvSpPr/>
          <p:nvPr/>
        </p:nvSpPr>
        <p:spPr>
          <a:xfrm>
            <a:off x="548640" y="434340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1" name="Text 19"/>
          <p:cNvSpPr/>
          <p:nvPr/>
        </p:nvSpPr>
        <p:spPr>
          <a:xfrm>
            <a:off x="1051560" y="4315968"/>
            <a:ext cx="47548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S3 automatically triggers the Lambda function</a:t>
            </a:r>
            <a:endParaRPr lang="en-US" sz="1150" dirty="0"/>
          </a:p>
        </p:txBody>
      </p:sp>
      <p:sp>
        <p:nvSpPr>
          <p:cNvPr id="22" name="Shape 20"/>
          <p:cNvSpPr/>
          <p:nvPr/>
        </p:nvSpPr>
        <p:spPr>
          <a:xfrm>
            <a:off x="548640" y="4919472"/>
            <a:ext cx="384048" cy="384048"/>
          </a:xfrm>
          <a:prstGeom prst="ellipse">
            <a:avLst/>
          </a:prstGeom>
          <a:solidFill>
            <a:srgbClr val="1E2761"/>
          </a:solidFill>
          <a:ln/>
        </p:spPr>
      </p:sp>
      <p:sp>
        <p:nvSpPr>
          <p:cNvPr id="23" name="Text 21"/>
          <p:cNvSpPr/>
          <p:nvPr/>
        </p:nvSpPr>
        <p:spPr>
          <a:xfrm>
            <a:off x="548640" y="4919472"/>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4" name="Text 22"/>
          <p:cNvSpPr/>
          <p:nvPr/>
        </p:nvSpPr>
        <p:spPr>
          <a:xfrm>
            <a:off x="1051560" y="4892040"/>
            <a:ext cx="47548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Lambda downloads the image from S3</a:t>
            </a:r>
            <a:endParaRPr lang="en-US" sz="1150" dirty="0"/>
          </a:p>
        </p:txBody>
      </p:sp>
      <p:sp>
        <p:nvSpPr>
          <p:cNvPr id="25" name="Shape 23"/>
          <p:cNvSpPr/>
          <p:nvPr/>
        </p:nvSpPr>
        <p:spPr>
          <a:xfrm>
            <a:off x="6355080" y="1463040"/>
            <a:ext cx="384048" cy="384048"/>
          </a:xfrm>
          <a:prstGeom prst="ellipse">
            <a:avLst/>
          </a:prstGeom>
          <a:solidFill>
            <a:srgbClr val="1E2761"/>
          </a:solidFill>
          <a:ln/>
        </p:spPr>
      </p:sp>
      <p:sp>
        <p:nvSpPr>
          <p:cNvPr id="26" name="Text 24"/>
          <p:cNvSpPr/>
          <p:nvPr/>
        </p:nvSpPr>
        <p:spPr>
          <a:xfrm>
            <a:off x="6355080" y="146304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27" name="Text 25"/>
          <p:cNvSpPr/>
          <p:nvPr/>
        </p:nvSpPr>
        <p:spPr>
          <a:xfrm>
            <a:off x="6858000" y="1435608"/>
            <a:ext cx="47548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Pillow opens and processes the image</a:t>
            </a:r>
            <a:endParaRPr lang="en-US" sz="1150" dirty="0"/>
          </a:p>
        </p:txBody>
      </p:sp>
      <p:sp>
        <p:nvSpPr>
          <p:cNvPr id="28" name="Shape 26"/>
          <p:cNvSpPr/>
          <p:nvPr/>
        </p:nvSpPr>
        <p:spPr>
          <a:xfrm>
            <a:off x="6355080" y="2039112"/>
            <a:ext cx="384048" cy="384048"/>
          </a:xfrm>
          <a:prstGeom prst="ellipse">
            <a:avLst/>
          </a:prstGeom>
          <a:solidFill>
            <a:srgbClr val="1E2761"/>
          </a:solidFill>
          <a:ln/>
        </p:spPr>
      </p:sp>
      <p:sp>
        <p:nvSpPr>
          <p:cNvPr id="29" name="Text 27"/>
          <p:cNvSpPr/>
          <p:nvPr/>
        </p:nvSpPr>
        <p:spPr>
          <a:xfrm>
            <a:off x="6355080" y="2039112"/>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0" name="Text 28"/>
          <p:cNvSpPr/>
          <p:nvPr/>
        </p:nvSpPr>
        <p:spPr>
          <a:xfrm>
            <a:off x="6858000" y="2011680"/>
            <a:ext cx="47548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Image is resized, preserving aspect ratio</a:t>
            </a:r>
            <a:endParaRPr lang="en-US" sz="1150" dirty="0"/>
          </a:p>
        </p:txBody>
      </p:sp>
      <p:sp>
        <p:nvSpPr>
          <p:cNvPr id="31" name="Shape 29"/>
          <p:cNvSpPr/>
          <p:nvPr/>
        </p:nvSpPr>
        <p:spPr>
          <a:xfrm>
            <a:off x="6355080" y="2615184"/>
            <a:ext cx="384048" cy="384048"/>
          </a:xfrm>
          <a:prstGeom prst="ellipse">
            <a:avLst/>
          </a:prstGeom>
          <a:solidFill>
            <a:srgbClr val="1E2761"/>
          </a:solidFill>
          <a:ln/>
        </p:spPr>
      </p:sp>
      <p:sp>
        <p:nvSpPr>
          <p:cNvPr id="32" name="Text 30"/>
          <p:cNvSpPr/>
          <p:nvPr/>
        </p:nvSpPr>
        <p:spPr>
          <a:xfrm>
            <a:off x="6355080" y="2615184"/>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33" name="Text 31"/>
          <p:cNvSpPr/>
          <p:nvPr/>
        </p:nvSpPr>
        <p:spPr>
          <a:xfrm>
            <a:off x="6858000" y="2587752"/>
            <a:ext cx="47548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Thumbnail is converted to optimized JPEG</a:t>
            </a:r>
            <a:endParaRPr lang="en-US" sz="1150" dirty="0"/>
          </a:p>
        </p:txBody>
      </p:sp>
      <p:sp>
        <p:nvSpPr>
          <p:cNvPr id="34" name="Shape 32"/>
          <p:cNvSpPr/>
          <p:nvPr/>
        </p:nvSpPr>
        <p:spPr>
          <a:xfrm>
            <a:off x="6355080" y="3191256"/>
            <a:ext cx="384048" cy="384048"/>
          </a:xfrm>
          <a:prstGeom prst="ellipse">
            <a:avLst/>
          </a:prstGeom>
          <a:solidFill>
            <a:srgbClr val="1E2761"/>
          </a:solidFill>
          <a:ln/>
        </p:spPr>
      </p:sp>
      <p:sp>
        <p:nvSpPr>
          <p:cNvPr id="35" name="Text 33"/>
          <p:cNvSpPr/>
          <p:nvPr/>
        </p:nvSpPr>
        <p:spPr>
          <a:xfrm>
            <a:off x="6355080" y="3191256"/>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36" name="Text 34"/>
          <p:cNvSpPr/>
          <p:nvPr/>
        </p:nvSpPr>
        <p:spPr>
          <a:xfrm>
            <a:off x="6858000" y="3163824"/>
            <a:ext cx="47548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Lambda uploads the thumbnail to S3 thumbnails/</a:t>
            </a:r>
            <a:endParaRPr lang="en-US" sz="1150" dirty="0"/>
          </a:p>
        </p:txBody>
      </p:sp>
      <p:sp>
        <p:nvSpPr>
          <p:cNvPr id="37" name="Shape 35"/>
          <p:cNvSpPr/>
          <p:nvPr/>
        </p:nvSpPr>
        <p:spPr>
          <a:xfrm>
            <a:off x="6355080" y="3767328"/>
            <a:ext cx="384048" cy="384048"/>
          </a:xfrm>
          <a:prstGeom prst="ellipse">
            <a:avLst/>
          </a:prstGeom>
          <a:solidFill>
            <a:srgbClr val="12B76A"/>
          </a:solidFill>
          <a:ln/>
        </p:spPr>
      </p:sp>
      <p:sp>
        <p:nvSpPr>
          <p:cNvPr id="38" name="Text 36"/>
          <p:cNvSpPr/>
          <p:nvPr/>
        </p:nvSpPr>
        <p:spPr>
          <a:xfrm>
            <a:off x="6355080" y="3767328"/>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39" name="Text 37"/>
          <p:cNvSpPr/>
          <p:nvPr/>
        </p:nvSpPr>
        <p:spPr>
          <a:xfrm>
            <a:off x="6858000" y="3739896"/>
            <a:ext cx="47548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Frontend polls to check if thumbnail exists</a:t>
            </a:r>
            <a:endParaRPr lang="en-US" sz="1150" dirty="0"/>
          </a:p>
        </p:txBody>
      </p:sp>
      <p:sp>
        <p:nvSpPr>
          <p:cNvPr id="40" name="Shape 38"/>
          <p:cNvSpPr/>
          <p:nvPr/>
        </p:nvSpPr>
        <p:spPr>
          <a:xfrm>
            <a:off x="6355080" y="4343400"/>
            <a:ext cx="384048" cy="384048"/>
          </a:xfrm>
          <a:prstGeom prst="ellipse">
            <a:avLst/>
          </a:prstGeom>
          <a:solidFill>
            <a:srgbClr val="12B76A"/>
          </a:solidFill>
          <a:ln/>
        </p:spPr>
      </p:sp>
      <p:sp>
        <p:nvSpPr>
          <p:cNvPr id="41" name="Text 39"/>
          <p:cNvSpPr/>
          <p:nvPr/>
        </p:nvSpPr>
        <p:spPr>
          <a:xfrm>
            <a:off x="6355080" y="434340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13</a:t>
            </a:r>
            <a:endParaRPr lang="en-US" sz="1200" dirty="0"/>
          </a:p>
        </p:txBody>
      </p:sp>
      <p:sp>
        <p:nvSpPr>
          <p:cNvPr id="42" name="Text 40"/>
          <p:cNvSpPr/>
          <p:nvPr/>
        </p:nvSpPr>
        <p:spPr>
          <a:xfrm>
            <a:off x="6858000" y="4315968"/>
            <a:ext cx="47548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PHP generates a time-limited presigned URL</a:t>
            </a:r>
            <a:endParaRPr lang="en-US" sz="1150" dirty="0"/>
          </a:p>
        </p:txBody>
      </p:sp>
      <p:sp>
        <p:nvSpPr>
          <p:cNvPr id="43" name="Shape 41"/>
          <p:cNvSpPr/>
          <p:nvPr/>
        </p:nvSpPr>
        <p:spPr>
          <a:xfrm>
            <a:off x="6355080" y="4919472"/>
            <a:ext cx="384048" cy="384048"/>
          </a:xfrm>
          <a:prstGeom prst="ellipse">
            <a:avLst/>
          </a:prstGeom>
          <a:solidFill>
            <a:srgbClr val="12B76A"/>
          </a:solidFill>
          <a:ln/>
        </p:spPr>
      </p:sp>
      <p:sp>
        <p:nvSpPr>
          <p:cNvPr id="44" name="Text 42"/>
          <p:cNvSpPr/>
          <p:nvPr/>
        </p:nvSpPr>
        <p:spPr>
          <a:xfrm>
            <a:off x="6355080" y="4919472"/>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14</a:t>
            </a:r>
            <a:endParaRPr lang="en-US" sz="1200" dirty="0"/>
          </a:p>
        </p:txBody>
      </p:sp>
      <p:sp>
        <p:nvSpPr>
          <p:cNvPr id="45" name="Text 43"/>
          <p:cNvSpPr/>
          <p:nvPr/>
        </p:nvSpPr>
        <p:spPr>
          <a:xfrm>
            <a:off x="6858000" y="4892040"/>
            <a:ext cx="4754880" cy="45720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Browser displays original + generated thumbnail</a:t>
            </a:r>
            <a:endParaRPr lang="en-US" sz="1150" dirty="0"/>
          </a:p>
        </p:txBody>
      </p:sp>
      <p:sp>
        <p:nvSpPr>
          <p:cNvPr id="46" name="Shape 44"/>
          <p:cNvSpPr/>
          <p:nvPr/>
        </p:nvSpPr>
        <p:spPr>
          <a:xfrm>
            <a:off x="548640" y="6355080"/>
            <a:ext cx="164592" cy="164592"/>
          </a:xfrm>
          <a:prstGeom prst="ellipse">
            <a:avLst/>
          </a:prstGeom>
          <a:solidFill>
            <a:srgbClr val="4A6FE3"/>
          </a:solidFill>
          <a:ln/>
        </p:spPr>
      </p:sp>
      <p:sp>
        <p:nvSpPr>
          <p:cNvPr id="47" name="Text 45"/>
          <p:cNvSpPr/>
          <p:nvPr/>
        </p:nvSpPr>
        <p:spPr>
          <a:xfrm>
            <a:off x="777240" y="6281928"/>
            <a:ext cx="1828800" cy="274320"/>
          </a:xfrm>
          <a:prstGeom prst="rect">
            <a:avLst/>
          </a:prstGeom>
          <a:noFill/>
          <a:ln/>
        </p:spPr>
        <p:txBody>
          <a:bodyPr wrap="square" rtlCol="0" anchor="ctr"/>
          <a:lstStyle/>
          <a:p>
            <a:pPr marL="0" indent="0">
              <a:buNone/>
            </a:pPr>
            <a:r>
              <a:rPr lang="en-US" sz="950" dirty="0">
                <a:solidFill>
                  <a:srgbClr val="5C6280"/>
                </a:solidFill>
                <a:latin typeface="Calibri" pitchFamily="34" charset="0"/>
                <a:ea typeface="Calibri" pitchFamily="34" charset="-122"/>
                <a:cs typeface="Calibri" pitchFamily="34" charset="-120"/>
              </a:rPr>
              <a:t>Client / Upload</a:t>
            </a:r>
            <a:endParaRPr lang="en-US" sz="950" dirty="0"/>
          </a:p>
        </p:txBody>
      </p:sp>
      <p:sp>
        <p:nvSpPr>
          <p:cNvPr id="48" name="Shape 46"/>
          <p:cNvSpPr/>
          <p:nvPr/>
        </p:nvSpPr>
        <p:spPr>
          <a:xfrm>
            <a:off x="2651760" y="6355080"/>
            <a:ext cx="164592" cy="164592"/>
          </a:xfrm>
          <a:prstGeom prst="ellipse">
            <a:avLst/>
          </a:prstGeom>
          <a:solidFill>
            <a:srgbClr val="1E2761"/>
          </a:solidFill>
          <a:ln/>
        </p:spPr>
      </p:sp>
      <p:sp>
        <p:nvSpPr>
          <p:cNvPr id="49" name="Text 47"/>
          <p:cNvSpPr/>
          <p:nvPr/>
        </p:nvSpPr>
        <p:spPr>
          <a:xfrm>
            <a:off x="2880360" y="6281928"/>
            <a:ext cx="1828800" cy="274320"/>
          </a:xfrm>
          <a:prstGeom prst="rect">
            <a:avLst/>
          </a:prstGeom>
          <a:noFill/>
          <a:ln/>
        </p:spPr>
        <p:txBody>
          <a:bodyPr wrap="square" rtlCol="0" anchor="ctr"/>
          <a:lstStyle/>
          <a:p>
            <a:pPr marL="0" indent="0">
              <a:buNone/>
            </a:pPr>
            <a:r>
              <a:rPr lang="en-US" sz="950" dirty="0">
                <a:solidFill>
                  <a:srgbClr val="5C6280"/>
                </a:solidFill>
                <a:latin typeface="Calibri" pitchFamily="34" charset="0"/>
                <a:ea typeface="Calibri" pitchFamily="34" charset="-122"/>
                <a:cs typeface="Calibri" pitchFamily="34" charset="-120"/>
              </a:rPr>
              <a:t>Lambda Processing</a:t>
            </a:r>
            <a:endParaRPr lang="en-US" sz="950" dirty="0"/>
          </a:p>
        </p:txBody>
      </p:sp>
      <p:sp>
        <p:nvSpPr>
          <p:cNvPr id="50" name="Shape 48"/>
          <p:cNvSpPr/>
          <p:nvPr/>
        </p:nvSpPr>
        <p:spPr>
          <a:xfrm>
            <a:off x="4754880" y="6355080"/>
            <a:ext cx="164592" cy="164592"/>
          </a:xfrm>
          <a:prstGeom prst="ellipse">
            <a:avLst/>
          </a:prstGeom>
          <a:solidFill>
            <a:srgbClr val="12B76A"/>
          </a:solidFill>
          <a:ln/>
        </p:spPr>
      </p:sp>
      <p:sp>
        <p:nvSpPr>
          <p:cNvPr id="51" name="Text 49"/>
          <p:cNvSpPr/>
          <p:nvPr/>
        </p:nvSpPr>
        <p:spPr>
          <a:xfrm>
            <a:off x="4983480" y="6281928"/>
            <a:ext cx="1828800" cy="274320"/>
          </a:xfrm>
          <a:prstGeom prst="rect">
            <a:avLst/>
          </a:prstGeom>
          <a:noFill/>
          <a:ln/>
        </p:spPr>
        <p:txBody>
          <a:bodyPr wrap="square" rtlCol="0" anchor="ctr"/>
          <a:lstStyle/>
          <a:p>
            <a:pPr marL="0" indent="0">
              <a:buNone/>
            </a:pPr>
            <a:r>
              <a:rPr lang="en-US" sz="950" dirty="0">
                <a:solidFill>
                  <a:srgbClr val="5C6280"/>
                </a:solidFill>
                <a:latin typeface="Calibri" pitchFamily="34" charset="0"/>
                <a:ea typeface="Calibri" pitchFamily="34" charset="-122"/>
                <a:cs typeface="Calibri" pitchFamily="34" charset="-120"/>
              </a:rPr>
              <a:t>Delivery</a:t>
            </a:r>
            <a:endParaRPr lang="en-US" sz="950" dirty="0"/>
          </a:p>
        </p:txBody>
      </p:sp>
      <p:sp>
        <p:nvSpPr>
          <p:cNvPr id="52" name="Text 50"/>
          <p:cNvSpPr/>
          <p:nvPr/>
        </p:nvSpPr>
        <p:spPr>
          <a:xfrm>
            <a:off x="457200" y="6528816"/>
            <a:ext cx="5486400" cy="274320"/>
          </a:xfrm>
          <a:prstGeom prst="rect">
            <a:avLst/>
          </a:prstGeom>
          <a:noFill/>
          <a:ln/>
        </p:spPr>
        <p:txBody>
          <a:bodyPr wrap="square" rtlCol="0" anchor="ctr"/>
          <a:lstStyle/>
          <a:p>
            <a:pPr marL="0" indent="0" algn="l">
              <a:buNone/>
            </a:pPr>
            <a:endParaRPr lang="en-US" sz="900" dirty="0"/>
          </a:p>
        </p:txBody>
      </p:sp>
      <p:sp>
        <p:nvSpPr>
          <p:cNvPr id="53" name="Text 51"/>
          <p:cNvSpPr/>
          <p:nvPr/>
        </p:nvSpPr>
        <p:spPr>
          <a:xfrm>
            <a:off x="9445752" y="6528816"/>
            <a:ext cx="2286000" cy="274320"/>
          </a:xfrm>
          <a:prstGeom prst="rect">
            <a:avLst/>
          </a:prstGeom>
          <a:noFill/>
          <a:ln/>
        </p:spPr>
        <p:txBody>
          <a:bodyPr wrap="square" rtlCol="0" anchor="ctr"/>
          <a:lstStyle/>
          <a:p>
            <a:pPr marL="0" indent="0" algn="r">
              <a:buNone/>
            </a:pPr>
            <a:r>
              <a:rPr lang="en-US" sz="900" dirty="0">
                <a:solidFill>
                  <a:srgbClr val="5C6280"/>
                </a:solidFill>
                <a:latin typeface="Calibri" pitchFamily="34" charset="0"/>
                <a:ea typeface="Calibri" pitchFamily="34" charset="-122"/>
                <a:cs typeface="Calibri" pitchFamily="34" charset="-120"/>
              </a:rPr>
              <a:t>TechFusion  |  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E"/>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4A6FE3"/>
                </a:solidFill>
                <a:latin typeface="Calibri" pitchFamily="34" charset="0"/>
                <a:ea typeface="Calibri" pitchFamily="34" charset="-122"/>
                <a:cs typeface="Calibri" pitchFamily="34" charset="-120"/>
              </a:rPr>
              <a:t>UNDER THE HOOD</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Technical Implementation</a:t>
            </a:r>
            <a:endParaRPr lang="en-US" sz="3000" dirty="0"/>
          </a:p>
        </p:txBody>
      </p:sp>
      <p:sp>
        <p:nvSpPr>
          <p:cNvPr id="4" name="Shape 2"/>
          <p:cNvSpPr/>
          <p:nvPr/>
        </p:nvSpPr>
        <p:spPr>
          <a:xfrm>
            <a:off x="260604" y="1446784"/>
            <a:ext cx="3520440" cy="4160520"/>
          </a:xfrm>
          <a:prstGeom prst="roundRect">
            <a:avLst>
              <a:gd name="adj" fmla="val 2597"/>
            </a:avLst>
          </a:prstGeom>
          <a:solidFill>
            <a:srgbClr val="FFFFFF"/>
          </a:solidFill>
          <a:ln w="12700">
            <a:solidFill>
              <a:srgbClr val="E1E6F5"/>
            </a:solidFill>
            <a:prstDash val="solid"/>
          </a:ln>
          <a:effectLst>
            <a:outerShdw blurRad="63500" dist="25400" dir="5400000" algn="bl" rotWithShape="0">
              <a:srgbClr val="999999">
                <a:alpha val="15000"/>
              </a:srgbClr>
            </a:outerShdw>
          </a:effectLst>
        </p:spPr>
      </p:sp>
      <p:sp>
        <p:nvSpPr>
          <p:cNvPr id="5" name="Shape 3"/>
          <p:cNvSpPr/>
          <p:nvPr/>
        </p:nvSpPr>
        <p:spPr>
          <a:xfrm>
            <a:off x="777240" y="1737360"/>
            <a:ext cx="548640" cy="548640"/>
          </a:xfrm>
          <a:prstGeom prst="ellipse">
            <a:avLst/>
          </a:prstGeom>
          <a:solidFill>
            <a:srgbClr val="4A6FE3"/>
          </a:solidFill>
          <a:ln/>
        </p:spPr>
      </p:sp>
      <p:pic>
        <p:nvPicPr>
          <p:cNvPr id="6" name="Image 0" descr="/home/claude/deck/icons/code.png"/>
          <p:cNvPicPr>
            <a:picLocks noChangeAspect="1"/>
          </p:cNvPicPr>
          <p:nvPr/>
        </p:nvPicPr>
        <p:blipFill>
          <a:blip r:embed="rId3"/>
          <a:stretch>
            <a:fillRect/>
          </a:stretch>
        </p:blipFill>
        <p:spPr>
          <a:xfrm>
            <a:off x="848563" y="1808683"/>
            <a:ext cx="405994" cy="405994"/>
          </a:xfrm>
          <a:prstGeom prst="rect">
            <a:avLst/>
          </a:prstGeom>
        </p:spPr>
      </p:pic>
      <p:sp>
        <p:nvSpPr>
          <p:cNvPr id="7" name="Text 4"/>
          <p:cNvSpPr/>
          <p:nvPr/>
        </p:nvSpPr>
        <p:spPr>
          <a:xfrm>
            <a:off x="1463040" y="1783080"/>
            <a:ext cx="2423160" cy="457200"/>
          </a:xfrm>
          <a:prstGeom prst="rect">
            <a:avLst/>
          </a:prstGeom>
          <a:noFill/>
          <a:ln/>
        </p:spPr>
        <p:txBody>
          <a:bodyPr wrap="square" rtlCol="0" anchor="ctr"/>
          <a:lstStyle/>
          <a:p>
            <a:pPr marL="0" indent="0">
              <a:buNone/>
            </a:pPr>
            <a:r>
              <a:rPr lang="en-US" sz="1700" b="1" dirty="0">
                <a:solidFill>
                  <a:srgbClr val="1B1F3B"/>
                </a:solidFill>
                <a:latin typeface="Cambria" pitchFamily="34" charset="0"/>
                <a:ea typeface="Cambria" pitchFamily="34" charset="-122"/>
                <a:cs typeface="Cambria" pitchFamily="34" charset="-120"/>
              </a:rPr>
              <a:t>Frontend</a:t>
            </a:r>
            <a:endParaRPr lang="en-US" sz="1700" dirty="0"/>
          </a:p>
        </p:txBody>
      </p:sp>
      <p:sp>
        <p:nvSpPr>
          <p:cNvPr id="8" name="Shape 5"/>
          <p:cNvSpPr/>
          <p:nvPr/>
        </p:nvSpPr>
        <p:spPr>
          <a:xfrm>
            <a:off x="804672" y="2587752"/>
            <a:ext cx="82296" cy="82296"/>
          </a:xfrm>
          <a:prstGeom prst="ellipse">
            <a:avLst/>
          </a:prstGeom>
          <a:solidFill>
            <a:srgbClr val="4A6FE3"/>
          </a:solidFill>
          <a:ln/>
        </p:spPr>
      </p:sp>
      <p:sp>
        <p:nvSpPr>
          <p:cNvPr id="9" name="Text 6"/>
          <p:cNvSpPr/>
          <p:nvPr/>
        </p:nvSpPr>
        <p:spPr>
          <a:xfrm>
            <a:off x="987552" y="2441448"/>
            <a:ext cx="2834640" cy="411480"/>
          </a:xfrm>
          <a:prstGeom prst="rect">
            <a:avLst/>
          </a:prstGeom>
          <a:noFill/>
          <a:ln/>
        </p:spPr>
        <p:txBody>
          <a:bodyPr wrap="square" rtlCol="0" anchor="t"/>
          <a:lstStyle/>
          <a:p>
            <a:pPr marL="0" indent="0">
              <a:buNone/>
            </a:pPr>
            <a:r>
              <a:rPr lang="en-US" sz="1100" dirty="0">
                <a:solidFill>
                  <a:srgbClr val="1B1F3B"/>
                </a:solidFill>
                <a:latin typeface="Calibri" pitchFamily="34" charset="0"/>
                <a:ea typeface="Calibri" pitchFamily="34" charset="-122"/>
                <a:cs typeface="Calibri" pitchFamily="34" charset="-120"/>
              </a:rPr>
              <a:t>Vanilla JavaScript</a:t>
            </a:r>
            <a:endParaRPr lang="en-US" sz="1100" dirty="0"/>
          </a:p>
        </p:txBody>
      </p:sp>
      <p:sp>
        <p:nvSpPr>
          <p:cNvPr id="10" name="Shape 7"/>
          <p:cNvSpPr/>
          <p:nvPr/>
        </p:nvSpPr>
        <p:spPr>
          <a:xfrm>
            <a:off x="804672" y="3022092"/>
            <a:ext cx="82296" cy="82296"/>
          </a:xfrm>
          <a:prstGeom prst="ellipse">
            <a:avLst/>
          </a:prstGeom>
          <a:solidFill>
            <a:srgbClr val="4A6FE3"/>
          </a:solidFill>
          <a:ln/>
        </p:spPr>
      </p:sp>
      <p:sp>
        <p:nvSpPr>
          <p:cNvPr id="11" name="Text 8"/>
          <p:cNvSpPr/>
          <p:nvPr/>
        </p:nvSpPr>
        <p:spPr>
          <a:xfrm>
            <a:off x="987552" y="2875788"/>
            <a:ext cx="2834640" cy="411480"/>
          </a:xfrm>
          <a:prstGeom prst="rect">
            <a:avLst/>
          </a:prstGeom>
          <a:noFill/>
          <a:ln/>
        </p:spPr>
        <p:txBody>
          <a:bodyPr wrap="square" rtlCol="0" anchor="t"/>
          <a:lstStyle/>
          <a:p>
            <a:pPr marL="0" indent="0">
              <a:buNone/>
            </a:pPr>
            <a:r>
              <a:rPr lang="en-US" sz="1100" dirty="0">
                <a:solidFill>
                  <a:srgbClr val="1B1F3B"/>
                </a:solidFill>
                <a:latin typeface="Calibri" pitchFamily="34" charset="0"/>
                <a:ea typeface="Calibri" pitchFamily="34" charset="-122"/>
                <a:cs typeface="Calibri" pitchFamily="34" charset="-120"/>
              </a:rPr>
              <a:t>Drag-and-drop functionality</a:t>
            </a:r>
            <a:endParaRPr lang="en-US" sz="1100" dirty="0"/>
          </a:p>
        </p:txBody>
      </p:sp>
      <p:sp>
        <p:nvSpPr>
          <p:cNvPr id="12" name="Shape 9"/>
          <p:cNvSpPr/>
          <p:nvPr/>
        </p:nvSpPr>
        <p:spPr>
          <a:xfrm>
            <a:off x="804672" y="3456432"/>
            <a:ext cx="82296" cy="82296"/>
          </a:xfrm>
          <a:prstGeom prst="ellipse">
            <a:avLst/>
          </a:prstGeom>
          <a:solidFill>
            <a:srgbClr val="4A6FE3"/>
          </a:solidFill>
          <a:ln/>
        </p:spPr>
      </p:sp>
      <p:sp>
        <p:nvSpPr>
          <p:cNvPr id="13" name="Text 10"/>
          <p:cNvSpPr/>
          <p:nvPr/>
        </p:nvSpPr>
        <p:spPr>
          <a:xfrm>
            <a:off x="987552" y="3310128"/>
            <a:ext cx="2834640" cy="411480"/>
          </a:xfrm>
          <a:prstGeom prst="rect">
            <a:avLst/>
          </a:prstGeom>
          <a:noFill/>
          <a:ln/>
        </p:spPr>
        <p:txBody>
          <a:bodyPr wrap="square" rtlCol="0" anchor="t"/>
          <a:lstStyle/>
          <a:p>
            <a:pPr marL="0" indent="0">
              <a:buNone/>
            </a:pPr>
            <a:r>
              <a:rPr lang="en-US" sz="1100" dirty="0">
                <a:solidFill>
                  <a:srgbClr val="1B1F3B"/>
                </a:solidFill>
                <a:latin typeface="Calibri" pitchFamily="34" charset="0"/>
                <a:ea typeface="Calibri" pitchFamily="34" charset="-122"/>
                <a:cs typeface="Calibri" pitchFamily="34" charset="-120"/>
              </a:rPr>
              <a:t>Client-side validation</a:t>
            </a:r>
            <a:endParaRPr lang="en-US" sz="1100" dirty="0"/>
          </a:p>
        </p:txBody>
      </p:sp>
      <p:sp>
        <p:nvSpPr>
          <p:cNvPr id="14" name="Shape 11"/>
          <p:cNvSpPr/>
          <p:nvPr/>
        </p:nvSpPr>
        <p:spPr>
          <a:xfrm>
            <a:off x="804672" y="3890772"/>
            <a:ext cx="82296" cy="82296"/>
          </a:xfrm>
          <a:prstGeom prst="ellipse">
            <a:avLst/>
          </a:prstGeom>
          <a:solidFill>
            <a:srgbClr val="4A6FE3"/>
          </a:solidFill>
          <a:ln/>
        </p:spPr>
      </p:sp>
      <p:sp>
        <p:nvSpPr>
          <p:cNvPr id="15" name="Text 12"/>
          <p:cNvSpPr/>
          <p:nvPr/>
        </p:nvSpPr>
        <p:spPr>
          <a:xfrm>
            <a:off x="987552" y="3744468"/>
            <a:ext cx="2834640" cy="411480"/>
          </a:xfrm>
          <a:prstGeom prst="rect">
            <a:avLst/>
          </a:prstGeom>
          <a:noFill/>
          <a:ln/>
        </p:spPr>
        <p:txBody>
          <a:bodyPr wrap="square" rtlCol="0" anchor="t"/>
          <a:lstStyle/>
          <a:p>
            <a:pPr marL="0" indent="0">
              <a:buNone/>
            </a:pPr>
            <a:r>
              <a:rPr lang="en-US" sz="1100" dirty="0">
                <a:solidFill>
                  <a:srgbClr val="1B1F3B"/>
                </a:solidFill>
                <a:latin typeface="Calibri" pitchFamily="34" charset="0"/>
                <a:ea typeface="Calibri" pitchFamily="34" charset="-122"/>
                <a:cs typeface="Calibri" pitchFamily="34" charset="-120"/>
              </a:rPr>
              <a:t>Live image preview</a:t>
            </a:r>
            <a:endParaRPr lang="en-US" sz="1100" dirty="0"/>
          </a:p>
        </p:txBody>
      </p:sp>
      <p:sp>
        <p:nvSpPr>
          <p:cNvPr id="16" name="Shape 13"/>
          <p:cNvSpPr/>
          <p:nvPr/>
        </p:nvSpPr>
        <p:spPr>
          <a:xfrm>
            <a:off x="804672" y="4325112"/>
            <a:ext cx="82296" cy="82296"/>
          </a:xfrm>
          <a:prstGeom prst="ellipse">
            <a:avLst/>
          </a:prstGeom>
          <a:solidFill>
            <a:srgbClr val="4A6FE3"/>
          </a:solidFill>
          <a:ln/>
        </p:spPr>
      </p:sp>
      <p:sp>
        <p:nvSpPr>
          <p:cNvPr id="17" name="Text 14"/>
          <p:cNvSpPr/>
          <p:nvPr/>
        </p:nvSpPr>
        <p:spPr>
          <a:xfrm>
            <a:off x="987552" y="4178808"/>
            <a:ext cx="2834640" cy="411480"/>
          </a:xfrm>
          <a:prstGeom prst="rect">
            <a:avLst/>
          </a:prstGeom>
          <a:noFill/>
          <a:ln/>
        </p:spPr>
        <p:txBody>
          <a:bodyPr wrap="square" rtlCol="0" anchor="t"/>
          <a:lstStyle/>
          <a:p>
            <a:pPr marL="0" indent="0">
              <a:buNone/>
            </a:pPr>
            <a:r>
              <a:rPr lang="en-US" sz="1100" dirty="0">
                <a:solidFill>
                  <a:srgbClr val="1B1F3B"/>
                </a:solidFill>
                <a:latin typeface="Calibri" pitchFamily="34" charset="0"/>
                <a:ea typeface="Calibri" pitchFamily="34" charset="-122"/>
                <a:cs typeface="Calibri" pitchFamily="34" charset="-120"/>
              </a:rPr>
              <a:t>AJAX / fetch-based upload</a:t>
            </a:r>
            <a:endParaRPr lang="en-US" sz="1100" dirty="0"/>
          </a:p>
        </p:txBody>
      </p:sp>
      <p:sp>
        <p:nvSpPr>
          <p:cNvPr id="18" name="Shape 15"/>
          <p:cNvSpPr/>
          <p:nvPr/>
        </p:nvSpPr>
        <p:spPr>
          <a:xfrm>
            <a:off x="804672" y="4759452"/>
            <a:ext cx="82296" cy="82296"/>
          </a:xfrm>
          <a:prstGeom prst="ellipse">
            <a:avLst/>
          </a:prstGeom>
          <a:solidFill>
            <a:srgbClr val="4A6FE3"/>
          </a:solidFill>
          <a:ln/>
        </p:spPr>
      </p:sp>
      <p:sp>
        <p:nvSpPr>
          <p:cNvPr id="19" name="Text 16"/>
          <p:cNvSpPr/>
          <p:nvPr/>
        </p:nvSpPr>
        <p:spPr>
          <a:xfrm>
            <a:off x="987552" y="4613148"/>
            <a:ext cx="2834640" cy="411480"/>
          </a:xfrm>
          <a:prstGeom prst="rect">
            <a:avLst/>
          </a:prstGeom>
          <a:noFill/>
          <a:ln/>
        </p:spPr>
        <p:txBody>
          <a:bodyPr wrap="square" rtlCol="0" anchor="t"/>
          <a:lstStyle/>
          <a:p>
            <a:pPr marL="0" indent="0">
              <a:buNone/>
            </a:pPr>
            <a:r>
              <a:rPr lang="en-US" sz="1100" dirty="0">
                <a:solidFill>
                  <a:srgbClr val="1B1F3B"/>
                </a:solidFill>
                <a:latin typeface="Calibri" pitchFamily="34" charset="0"/>
                <a:ea typeface="Calibri" pitchFamily="34" charset="-122"/>
                <a:cs typeface="Calibri" pitchFamily="34" charset="-120"/>
              </a:rPr>
              <a:t>Status updates</a:t>
            </a:r>
            <a:endParaRPr lang="en-US" sz="1100" dirty="0"/>
          </a:p>
        </p:txBody>
      </p:sp>
      <p:sp>
        <p:nvSpPr>
          <p:cNvPr id="20" name="Shape 17"/>
          <p:cNvSpPr/>
          <p:nvPr/>
        </p:nvSpPr>
        <p:spPr>
          <a:xfrm>
            <a:off x="804672" y="5193792"/>
            <a:ext cx="82296" cy="82296"/>
          </a:xfrm>
          <a:prstGeom prst="ellipse">
            <a:avLst/>
          </a:prstGeom>
          <a:solidFill>
            <a:srgbClr val="4A6FE3"/>
          </a:solidFill>
          <a:ln/>
        </p:spPr>
      </p:sp>
      <p:sp>
        <p:nvSpPr>
          <p:cNvPr id="21" name="Text 18"/>
          <p:cNvSpPr/>
          <p:nvPr/>
        </p:nvSpPr>
        <p:spPr>
          <a:xfrm>
            <a:off x="987552" y="5047488"/>
            <a:ext cx="2834640" cy="411480"/>
          </a:xfrm>
          <a:prstGeom prst="rect">
            <a:avLst/>
          </a:prstGeom>
          <a:noFill/>
          <a:ln/>
        </p:spPr>
        <p:txBody>
          <a:bodyPr wrap="square" rtlCol="0" anchor="t"/>
          <a:lstStyle/>
          <a:p>
            <a:pPr marL="0" indent="0">
              <a:buNone/>
            </a:pPr>
            <a:r>
              <a:rPr lang="en-US" sz="1100" dirty="0">
                <a:solidFill>
                  <a:srgbClr val="1B1F3B"/>
                </a:solidFill>
                <a:latin typeface="Calibri" pitchFamily="34" charset="0"/>
                <a:ea typeface="Calibri" pitchFamily="34" charset="-122"/>
                <a:cs typeface="Calibri" pitchFamily="34" charset="-120"/>
              </a:rPr>
              <a:t>Polling for thumbnail completion</a:t>
            </a:r>
            <a:endParaRPr lang="en-US" sz="1100" dirty="0"/>
          </a:p>
        </p:txBody>
      </p:sp>
      <p:sp>
        <p:nvSpPr>
          <p:cNvPr id="22" name="Shape 19"/>
          <p:cNvSpPr/>
          <p:nvPr/>
        </p:nvSpPr>
        <p:spPr>
          <a:xfrm>
            <a:off x="4325112" y="1508760"/>
            <a:ext cx="3520440" cy="4160520"/>
          </a:xfrm>
          <a:prstGeom prst="roundRect">
            <a:avLst>
              <a:gd name="adj" fmla="val 2597"/>
            </a:avLst>
          </a:prstGeom>
          <a:solidFill>
            <a:srgbClr val="FFFFFF"/>
          </a:solidFill>
          <a:ln w="12700">
            <a:solidFill>
              <a:srgbClr val="E1E6F5"/>
            </a:solidFill>
            <a:prstDash val="solid"/>
          </a:ln>
          <a:effectLst>
            <a:outerShdw blurRad="63500" dist="25400" dir="5400000" algn="bl" rotWithShape="0">
              <a:srgbClr val="999999">
                <a:alpha val="15000"/>
              </a:srgbClr>
            </a:outerShdw>
          </a:effectLst>
        </p:spPr>
      </p:sp>
      <p:sp>
        <p:nvSpPr>
          <p:cNvPr id="23" name="Shape 20"/>
          <p:cNvSpPr/>
          <p:nvPr/>
        </p:nvSpPr>
        <p:spPr>
          <a:xfrm>
            <a:off x="4553712" y="1737360"/>
            <a:ext cx="548640" cy="548640"/>
          </a:xfrm>
          <a:prstGeom prst="ellipse">
            <a:avLst/>
          </a:prstGeom>
          <a:solidFill>
            <a:srgbClr val="777BB4"/>
          </a:solidFill>
          <a:ln/>
        </p:spPr>
      </p:sp>
      <p:pic>
        <p:nvPicPr>
          <p:cNvPr id="24" name="Image 1" descr="/home/claude/deck/icons/php.png"/>
          <p:cNvPicPr>
            <a:picLocks noChangeAspect="1"/>
          </p:cNvPicPr>
          <p:nvPr/>
        </p:nvPicPr>
        <p:blipFill>
          <a:blip r:embed="rId4"/>
          <a:stretch>
            <a:fillRect/>
          </a:stretch>
        </p:blipFill>
        <p:spPr>
          <a:xfrm>
            <a:off x="4625035" y="1808683"/>
            <a:ext cx="405994" cy="405994"/>
          </a:xfrm>
          <a:prstGeom prst="rect">
            <a:avLst/>
          </a:prstGeom>
        </p:spPr>
      </p:pic>
      <p:sp>
        <p:nvSpPr>
          <p:cNvPr id="25" name="Text 21"/>
          <p:cNvSpPr/>
          <p:nvPr/>
        </p:nvSpPr>
        <p:spPr>
          <a:xfrm>
            <a:off x="5239512" y="1783080"/>
            <a:ext cx="2423160" cy="457200"/>
          </a:xfrm>
          <a:prstGeom prst="rect">
            <a:avLst/>
          </a:prstGeom>
          <a:noFill/>
          <a:ln/>
        </p:spPr>
        <p:txBody>
          <a:bodyPr wrap="square" rtlCol="0" anchor="ctr"/>
          <a:lstStyle/>
          <a:p>
            <a:pPr marL="0" indent="0">
              <a:buNone/>
            </a:pPr>
            <a:r>
              <a:rPr lang="en-US" sz="1700" b="1" dirty="0">
                <a:solidFill>
                  <a:srgbClr val="1B1F3B"/>
                </a:solidFill>
                <a:latin typeface="Cambria" pitchFamily="34" charset="0"/>
                <a:ea typeface="Cambria" pitchFamily="34" charset="-122"/>
                <a:cs typeface="Cambria" pitchFamily="34" charset="-120"/>
              </a:rPr>
              <a:t>Backend</a:t>
            </a:r>
            <a:endParaRPr lang="en-US" sz="1700" dirty="0"/>
          </a:p>
        </p:txBody>
      </p:sp>
      <p:sp>
        <p:nvSpPr>
          <p:cNvPr id="26" name="Shape 22"/>
          <p:cNvSpPr/>
          <p:nvPr/>
        </p:nvSpPr>
        <p:spPr>
          <a:xfrm>
            <a:off x="4581144" y="2587752"/>
            <a:ext cx="82296" cy="82296"/>
          </a:xfrm>
          <a:prstGeom prst="ellipse">
            <a:avLst/>
          </a:prstGeom>
          <a:solidFill>
            <a:srgbClr val="777BB4"/>
          </a:solidFill>
          <a:ln/>
        </p:spPr>
      </p:sp>
      <p:sp>
        <p:nvSpPr>
          <p:cNvPr id="27" name="Text 23"/>
          <p:cNvSpPr/>
          <p:nvPr/>
        </p:nvSpPr>
        <p:spPr>
          <a:xfrm>
            <a:off x="4764024" y="2441448"/>
            <a:ext cx="2834640" cy="411480"/>
          </a:xfrm>
          <a:prstGeom prst="rect">
            <a:avLst/>
          </a:prstGeom>
          <a:noFill/>
          <a:ln/>
        </p:spPr>
        <p:txBody>
          <a:bodyPr wrap="square" rtlCol="0" anchor="t"/>
          <a:lstStyle/>
          <a:p>
            <a:pPr marL="0" indent="0">
              <a:buNone/>
            </a:pPr>
            <a:r>
              <a:rPr lang="en-US" sz="1100" dirty="0">
                <a:solidFill>
                  <a:srgbClr val="1B1F3B"/>
                </a:solidFill>
                <a:latin typeface="Calibri" pitchFamily="34" charset="0"/>
                <a:ea typeface="Calibri" pitchFamily="34" charset="-122"/>
                <a:cs typeface="Calibri" pitchFamily="34" charset="-120"/>
              </a:rPr>
              <a:t>PHP 8</a:t>
            </a:r>
            <a:endParaRPr lang="en-US" sz="1100" dirty="0"/>
          </a:p>
        </p:txBody>
      </p:sp>
      <p:sp>
        <p:nvSpPr>
          <p:cNvPr id="28" name="Shape 24"/>
          <p:cNvSpPr/>
          <p:nvPr/>
        </p:nvSpPr>
        <p:spPr>
          <a:xfrm>
            <a:off x="4581144" y="3022092"/>
            <a:ext cx="82296" cy="82296"/>
          </a:xfrm>
          <a:prstGeom prst="ellipse">
            <a:avLst/>
          </a:prstGeom>
          <a:solidFill>
            <a:srgbClr val="777BB4"/>
          </a:solidFill>
          <a:ln/>
        </p:spPr>
      </p:sp>
      <p:sp>
        <p:nvSpPr>
          <p:cNvPr id="29" name="Text 25"/>
          <p:cNvSpPr/>
          <p:nvPr/>
        </p:nvSpPr>
        <p:spPr>
          <a:xfrm>
            <a:off x="4764024" y="2875788"/>
            <a:ext cx="2834640" cy="411480"/>
          </a:xfrm>
          <a:prstGeom prst="rect">
            <a:avLst/>
          </a:prstGeom>
          <a:noFill/>
          <a:ln/>
        </p:spPr>
        <p:txBody>
          <a:bodyPr wrap="square" rtlCol="0" anchor="t"/>
          <a:lstStyle/>
          <a:p>
            <a:pPr marL="0" indent="0">
              <a:buNone/>
            </a:pPr>
            <a:r>
              <a:rPr lang="en-US" sz="1100" dirty="0">
                <a:solidFill>
                  <a:srgbClr val="1B1F3B"/>
                </a:solidFill>
                <a:latin typeface="Calibri" pitchFamily="34" charset="0"/>
                <a:ea typeface="Calibri" pitchFamily="34" charset="-122"/>
                <a:cs typeface="Calibri" pitchFamily="34" charset="-120"/>
              </a:rPr>
              <a:t>AWS SDK for PHP</a:t>
            </a:r>
            <a:endParaRPr lang="en-US" sz="1100" dirty="0"/>
          </a:p>
        </p:txBody>
      </p:sp>
      <p:sp>
        <p:nvSpPr>
          <p:cNvPr id="30" name="Shape 26"/>
          <p:cNvSpPr/>
          <p:nvPr/>
        </p:nvSpPr>
        <p:spPr>
          <a:xfrm>
            <a:off x="4581144" y="3456432"/>
            <a:ext cx="82296" cy="82296"/>
          </a:xfrm>
          <a:prstGeom prst="ellipse">
            <a:avLst/>
          </a:prstGeom>
          <a:solidFill>
            <a:srgbClr val="777BB4"/>
          </a:solidFill>
          <a:ln/>
        </p:spPr>
      </p:sp>
      <p:sp>
        <p:nvSpPr>
          <p:cNvPr id="31" name="Text 27"/>
          <p:cNvSpPr/>
          <p:nvPr/>
        </p:nvSpPr>
        <p:spPr>
          <a:xfrm>
            <a:off x="4764024" y="3310128"/>
            <a:ext cx="2834640" cy="411480"/>
          </a:xfrm>
          <a:prstGeom prst="rect">
            <a:avLst/>
          </a:prstGeom>
          <a:noFill/>
          <a:ln/>
        </p:spPr>
        <p:txBody>
          <a:bodyPr wrap="square" rtlCol="0" anchor="t"/>
          <a:lstStyle/>
          <a:p>
            <a:pPr marL="0" indent="0">
              <a:buNone/>
            </a:pPr>
            <a:r>
              <a:rPr lang="en-US" sz="1100" dirty="0">
                <a:solidFill>
                  <a:srgbClr val="1B1F3B"/>
                </a:solidFill>
                <a:latin typeface="Calibri" pitchFamily="34" charset="0"/>
                <a:ea typeface="Calibri" pitchFamily="34" charset="-122"/>
                <a:cs typeface="Calibri" pitchFamily="34" charset="-120"/>
              </a:rPr>
              <a:t>S3 upload handling</a:t>
            </a:r>
            <a:endParaRPr lang="en-US" sz="1100" dirty="0"/>
          </a:p>
        </p:txBody>
      </p:sp>
      <p:sp>
        <p:nvSpPr>
          <p:cNvPr id="32" name="Shape 28"/>
          <p:cNvSpPr/>
          <p:nvPr/>
        </p:nvSpPr>
        <p:spPr>
          <a:xfrm>
            <a:off x="4581144" y="3890772"/>
            <a:ext cx="82296" cy="82296"/>
          </a:xfrm>
          <a:prstGeom prst="ellipse">
            <a:avLst/>
          </a:prstGeom>
          <a:solidFill>
            <a:srgbClr val="777BB4"/>
          </a:solidFill>
          <a:ln/>
        </p:spPr>
      </p:sp>
      <p:sp>
        <p:nvSpPr>
          <p:cNvPr id="33" name="Text 29"/>
          <p:cNvSpPr/>
          <p:nvPr/>
        </p:nvSpPr>
        <p:spPr>
          <a:xfrm>
            <a:off x="4764024" y="3744468"/>
            <a:ext cx="2834640" cy="411480"/>
          </a:xfrm>
          <a:prstGeom prst="rect">
            <a:avLst/>
          </a:prstGeom>
          <a:noFill/>
          <a:ln/>
        </p:spPr>
        <p:txBody>
          <a:bodyPr wrap="square" rtlCol="0" anchor="t"/>
          <a:lstStyle/>
          <a:p>
            <a:pPr marL="0" indent="0">
              <a:buNone/>
            </a:pPr>
            <a:r>
              <a:rPr lang="en-US" sz="1100" dirty="0">
                <a:solidFill>
                  <a:srgbClr val="1B1F3B"/>
                </a:solidFill>
                <a:latin typeface="Calibri" pitchFamily="34" charset="0"/>
                <a:ea typeface="Calibri" pitchFamily="34" charset="-122"/>
                <a:cs typeface="Calibri" pitchFamily="34" charset="-120"/>
              </a:rPr>
              <a:t>Server-side MIME validation (finfo)</a:t>
            </a:r>
            <a:endParaRPr lang="en-US" sz="1100" dirty="0"/>
          </a:p>
        </p:txBody>
      </p:sp>
      <p:sp>
        <p:nvSpPr>
          <p:cNvPr id="34" name="Shape 30"/>
          <p:cNvSpPr/>
          <p:nvPr/>
        </p:nvSpPr>
        <p:spPr>
          <a:xfrm>
            <a:off x="4581144" y="4325112"/>
            <a:ext cx="82296" cy="82296"/>
          </a:xfrm>
          <a:prstGeom prst="ellipse">
            <a:avLst/>
          </a:prstGeom>
          <a:solidFill>
            <a:srgbClr val="777BB4"/>
          </a:solidFill>
          <a:ln/>
        </p:spPr>
      </p:sp>
      <p:sp>
        <p:nvSpPr>
          <p:cNvPr id="35" name="Text 31"/>
          <p:cNvSpPr/>
          <p:nvPr/>
        </p:nvSpPr>
        <p:spPr>
          <a:xfrm>
            <a:off x="4764024" y="4178808"/>
            <a:ext cx="2834640" cy="411480"/>
          </a:xfrm>
          <a:prstGeom prst="rect">
            <a:avLst/>
          </a:prstGeom>
          <a:noFill/>
          <a:ln/>
        </p:spPr>
        <p:txBody>
          <a:bodyPr wrap="square" rtlCol="0" anchor="t"/>
          <a:lstStyle/>
          <a:p>
            <a:pPr marL="0" indent="0">
              <a:buNone/>
            </a:pPr>
            <a:r>
              <a:rPr lang="en-US" sz="1100" dirty="0">
                <a:solidFill>
                  <a:srgbClr val="1B1F3B"/>
                </a:solidFill>
                <a:latin typeface="Calibri" pitchFamily="34" charset="0"/>
                <a:ea typeface="Calibri" pitchFamily="34" charset="-122"/>
                <a:cs typeface="Calibri" pitchFamily="34" charset="-120"/>
              </a:rPr>
              <a:t>Unique random filenames</a:t>
            </a:r>
            <a:endParaRPr lang="en-US" sz="1100" dirty="0"/>
          </a:p>
        </p:txBody>
      </p:sp>
      <p:sp>
        <p:nvSpPr>
          <p:cNvPr id="36" name="Shape 32"/>
          <p:cNvSpPr/>
          <p:nvPr/>
        </p:nvSpPr>
        <p:spPr>
          <a:xfrm>
            <a:off x="4581144" y="4759452"/>
            <a:ext cx="82296" cy="82296"/>
          </a:xfrm>
          <a:prstGeom prst="ellipse">
            <a:avLst/>
          </a:prstGeom>
          <a:solidFill>
            <a:srgbClr val="777BB4"/>
          </a:solidFill>
          <a:ln/>
        </p:spPr>
      </p:sp>
      <p:sp>
        <p:nvSpPr>
          <p:cNvPr id="37" name="Text 33"/>
          <p:cNvSpPr/>
          <p:nvPr/>
        </p:nvSpPr>
        <p:spPr>
          <a:xfrm>
            <a:off x="4764024" y="4613148"/>
            <a:ext cx="2834640" cy="411480"/>
          </a:xfrm>
          <a:prstGeom prst="rect">
            <a:avLst/>
          </a:prstGeom>
          <a:noFill/>
          <a:ln/>
        </p:spPr>
        <p:txBody>
          <a:bodyPr wrap="square" rtlCol="0" anchor="t"/>
          <a:lstStyle/>
          <a:p>
            <a:pPr marL="0" indent="0">
              <a:buNone/>
            </a:pPr>
            <a:r>
              <a:rPr lang="en-US" sz="1100" dirty="0">
                <a:solidFill>
                  <a:srgbClr val="1B1F3B"/>
                </a:solidFill>
                <a:latin typeface="Calibri" pitchFamily="34" charset="0"/>
                <a:ea typeface="Calibri" pitchFamily="34" charset="-122"/>
                <a:cs typeface="Calibri" pitchFamily="34" charset="-120"/>
              </a:rPr>
              <a:t>Presigned URL generation</a:t>
            </a:r>
            <a:endParaRPr lang="en-US" sz="1100" dirty="0"/>
          </a:p>
        </p:txBody>
      </p:sp>
      <p:sp>
        <p:nvSpPr>
          <p:cNvPr id="38" name="Shape 34"/>
          <p:cNvSpPr/>
          <p:nvPr/>
        </p:nvSpPr>
        <p:spPr>
          <a:xfrm>
            <a:off x="8101584" y="1508760"/>
            <a:ext cx="3520440" cy="4160520"/>
          </a:xfrm>
          <a:prstGeom prst="roundRect">
            <a:avLst>
              <a:gd name="adj" fmla="val 2597"/>
            </a:avLst>
          </a:prstGeom>
          <a:solidFill>
            <a:srgbClr val="FFFFFF"/>
          </a:solidFill>
          <a:ln w="12700">
            <a:solidFill>
              <a:srgbClr val="E1E6F5"/>
            </a:solidFill>
            <a:prstDash val="solid"/>
          </a:ln>
          <a:effectLst>
            <a:outerShdw blurRad="63500" dist="25400" dir="5400000" algn="bl" rotWithShape="0">
              <a:srgbClr val="999999">
                <a:alpha val="15000"/>
              </a:srgbClr>
            </a:outerShdw>
          </a:effectLst>
        </p:spPr>
      </p:sp>
      <p:sp>
        <p:nvSpPr>
          <p:cNvPr id="39" name="Shape 35"/>
          <p:cNvSpPr/>
          <p:nvPr/>
        </p:nvSpPr>
        <p:spPr>
          <a:xfrm>
            <a:off x="8330184" y="1737360"/>
            <a:ext cx="548640" cy="548640"/>
          </a:xfrm>
          <a:prstGeom prst="ellipse">
            <a:avLst/>
          </a:prstGeom>
          <a:solidFill>
            <a:srgbClr val="3776AB"/>
          </a:solidFill>
          <a:ln/>
        </p:spPr>
      </p:sp>
      <p:pic>
        <p:nvPicPr>
          <p:cNvPr id="40" name="Image 2" descr="/home/claude/deck/icons/python.png"/>
          <p:cNvPicPr>
            <a:picLocks noChangeAspect="1"/>
          </p:cNvPicPr>
          <p:nvPr/>
        </p:nvPicPr>
        <p:blipFill>
          <a:blip r:embed="rId5"/>
          <a:stretch>
            <a:fillRect/>
          </a:stretch>
        </p:blipFill>
        <p:spPr>
          <a:xfrm>
            <a:off x="8401507" y="1808683"/>
            <a:ext cx="405994" cy="405994"/>
          </a:xfrm>
          <a:prstGeom prst="rect">
            <a:avLst/>
          </a:prstGeom>
        </p:spPr>
      </p:pic>
      <p:sp>
        <p:nvSpPr>
          <p:cNvPr id="41" name="Text 36"/>
          <p:cNvSpPr/>
          <p:nvPr/>
        </p:nvSpPr>
        <p:spPr>
          <a:xfrm>
            <a:off x="9015984" y="1783080"/>
            <a:ext cx="2423160" cy="457200"/>
          </a:xfrm>
          <a:prstGeom prst="rect">
            <a:avLst/>
          </a:prstGeom>
          <a:noFill/>
          <a:ln/>
        </p:spPr>
        <p:txBody>
          <a:bodyPr wrap="square" rtlCol="0" anchor="ctr"/>
          <a:lstStyle/>
          <a:p>
            <a:pPr marL="0" indent="0">
              <a:buNone/>
            </a:pPr>
            <a:r>
              <a:rPr lang="en-US" sz="1700" b="1" dirty="0">
                <a:solidFill>
                  <a:srgbClr val="1B1F3B"/>
                </a:solidFill>
                <a:latin typeface="Cambria" pitchFamily="34" charset="0"/>
                <a:ea typeface="Cambria" pitchFamily="34" charset="-122"/>
                <a:cs typeface="Cambria" pitchFamily="34" charset="-120"/>
              </a:rPr>
              <a:t>AWS Lambda</a:t>
            </a:r>
            <a:endParaRPr lang="en-US" sz="1700" dirty="0"/>
          </a:p>
        </p:txBody>
      </p:sp>
      <p:sp>
        <p:nvSpPr>
          <p:cNvPr id="42" name="Shape 37"/>
          <p:cNvSpPr/>
          <p:nvPr/>
        </p:nvSpPr>
        <p:spPr>
          <a:xfrm>
            <a:off x="8357616" y="2587752"/>
            <a:ext cx="82296" cy="82296"/>
          </a:xfrm>
          <a:prstGeom prst="ellipse">
            <a:avLst/>
          </a:prstGeom>
          <a:solidFill>
            <a:srgbClr val="3776AB"/>
          </a:solidFill>
          <a:ln/>
        </p:spPr>
      </p:sp>
      <p:sp>
        <p:nvSpPr>
          <p:cNvPr id="43" name="Text 38"/>
          <p:cNvSpPr/>
          <p:nvPr/>
        </p:nvSpPr>
        <p:spPr>
          <a:xfrm>
            <a:off x="8540496" y="2441448"/>
            <a:ext cx="2834640" cy="411480"/>
          </a:xfrm>
          <a:prstGeom prst="rect">
            <a:avLst/>
          </a:prstGeom>
          <a:noFill/>
          <a:ln/>
        </p:spPr>
        <p:txBody>
          <a:bodyPr wrap="square" rtlCol="0" anchor="t"/>
          <a:lstStyle/>
          <a:p>
            <a:pPr marL="0" indent="0">
              <a:buNone/>
            </a:pPr>
            <a:r>
              <a:rPr lang="en-US" sz="1100" dirty="0">
                <a:solidFill>
                  <a:srgbClr val="1B1F3B"/>
                </a:solidFill>
                <a:latin typeface="Calibri" pitchFamily="34" charset="0"/>
                <a:ea typeface="Calibri" pitchFamily="34" charset="-122"/>
                <a:cs typeface="Calibri" pitchFamily="34" charset="-120"/>
              </a:rPr>
              <a:t>Python 3.12</a:t>
            </a:r>
            <a:endParaRPr lang="en-US" sz="1100" dirty="0"/>
          </a:p>
        </p:txBody>
      </p:sp>
      <p:sp>
        <p:nvSpPr>
          <p:cNvPr id="44" name="Shape 39"/>
          <p:cNvSpPr/>
          <p:nvPr/>
        </p:nvSpPr>
        <p:spPr>
          <a:xfrm>
            <a:off x="8357616" y="3022092"/>
            <a:ext cx="82296" cy="82296"/>
          </a:xfrm>
          <a:prstGeom prst="ellipse">
            <a:avLst/>
          </a:prstGeom>
          <a:solidFill>
            <a:srgbClr val="3776AB"/>
          </a:solidFill>
          <a:ln/>
        </p:spPr>
      </p:sp>
      <p:sp>
        <p:nvSpPr>
          <p:cNvPr id="45" name="Text 40"/>
          <p:cNvSpPr/>
          <p:nvPr/>
        </p:nvSpPr>
        <p:spPr>
          <a:xfrm>
            <a:off x="8540496" y="2875788"/>
            <a:ext cx="2834640" cy="411480"/>
          </a:xfrm>
          <a:prstGeom prst="rect">
            <a:avLst/>
          </a:prstGeom>
          <a:noFill/>
          <a:ln/>
        </p:spPr>
        <p:txBody>
          <a:bodyPr wrap="square" rtlCol="0" anchor="t"/>
          <a:lstStyle/>
          <a:p>
            <a:pPr marL="0" indent="0">
              <a:buNone/>
            </a:pPr>
            <a:r>
              <a:rPr lang="en-US" sz="1100" dirty="0">
                <a:solidFill>
                  <a:srgbClr val="1B1F3B"/>
                </a:solidFill>
                <a:latin typeface="Calibri" pitchFamily="34" charset="0"/>
                <a:ea typeface="Calibri" pitchFamily="34" charset="-122"/>
                <a:cs typeface="Calibri" pitchFamily="34" charset="-120"/>
              </a:rPr>
              <a:t>Pillow (PIL) image library</a:t>
            </a:r>
            <a:endParaRPr lang="en-US" sz="1100" dirty="0"/>
          </a:p>
        </p:txBody>
      </p:sp>
      <p:sp>
        <p:nvSpPr>
          <p:cNvPr id="46" name="Shape 41"/>
          <p:cNvSpPr/>
          <p:nvPr/>
        </p:nvSpPr>
        <p:spPr>
          <a:xfrm>
            <a:off x="8357616" y="3456432"/>
            <a:ext cx="82296" cy="82296"/>
          </a:xfrm>
          <a:prstGeom prst="ellipse">
            <a:avLst/>
          </a:prstGeom>
          <a:solidFill>
            <a:srgbClr val="3776AB"/>
          </a:solidFill>
          <a:ln/>
        </p:spPr>
      </p:sp>
      <p:sp>
        <p:nvSpPr>
          <p:cNvPr id="47" name="Text 42"/>
          <p:cNvSpPr/>
          <p:nvPr/>
        </p:nvSpPr>
        <p:spPr>
          <a:xfrm>
            <a:off x="8540496" y="3310128"/>
            <a:ext cx="2834640" cy="411480"/>
          </a:xfrm>
          <a:prstGeom prst="rect">
            <a:avLst/>
          </a:prstGeom>
          <a:noFill/>
          <a:ln/>
        </p:spPr>
        <p:txBody>
          <a:bodyPr wrap="square" rtlCol="0" anchor="t"/>
          <a:lstStyle/>
          <a:p>
            <a:pPr marL="0" indent="0">
              <a:buNone/>
            </a:pPr>
            <a:r>
              <a:rPr lang="en-US" sz="1100" dirty="0">
                <a:solidFill>
                  <a:srgbClr val="1B1F3B"/>
                </a:solidFill>
                <a:latin typeface="Calibri" pitchFamily="34" charset="0"/>
                <a:ea typeface="Calibri" pitchFamily="34" charset="-122"/>
                <a:cs typeface="Calibri" pitchFamily="34" charset="-120"/>
              </a:rPr>
              <a:t>Automatic image processing</a:t>
            </a:r>
            <a:endParaRPr lang="en-US" sz="1100" dirty="0"/>
          </a:p>
        </p:txBody>
      </p:sp>
      <p:sp>
        <p:nvSpPr>
          <p:cNvPr id="48" name="Shape 43"/>
          <p:cNvSpPr/>
          <p:nvPr/>
        </p:nvSpPr>
        <p:spPr>
          <a:xfrm>
            <a:off x="8357616" y="3890772"/>
            <a:ext cx="82296" cy="82296"/>
          </a:xfrm>
          <a:prstGeom prst="ellipse">
            <a:avLst/>
          </a:prstGeom>
          <a:solidFill>
            <a:srgbClr val="3776AB"/>
          </a:solidFill>
          <a:ln/>
        </p:spPr>
      </p:sp>
      <p:sp>
        <p:nvSpPr>
          <p:cNvPr id="49" name="Text 44"/>
          <p:cNvSpPr/>
          <p:nvPr/>
        </p:nvSpPr>
        <p:spPr>
          <a:xfrm>
            <a:off x="8540496" y="3744468"/>
            <a:ext cx="2834640" cy="411480"/>
          </a:xfrm>
          <a:prstGeom prst="rect">
            <a:avLst/>
          </a:prstGeom>
          <a:noFill/>
          <a:ln/>
        </p:spPr>
        <p:txBody>
          <a:bodyPr wrap="square" rtlCol="0" anchor="t"/>
          <a:lstStyle/>
          <a:p>
            <a:pPr marL="0" indent="0">
              <a:buNone/>
            </a:pPr>
            <a:r>
              <a:rPr lang="en-US" sz="1100" dirty="0">
                <a:solidFill>
                  <a:srgbClr val="1B1F3B"/>
                </a:solidFill>
                <a:latin typeface="Calibri" pitchFamily="34" charset="0"/>
                <a:ea typeface="Calibri" pitchFamily="34" charset="-122"/>
                <a:cs typeface="Calibri" pitchFamily="34" charset="-120"/>
              </a:rPr>
              <a:t>Aspect-ratio-preserving resize</a:t>
            </a:r>
            <a:endParaRPr lang="en-US" sz="1100" dirty="0"/>
          </a:p>
        </p:txBody>
      </p:sp>
      <p:sp>
        <p:nvSpPr>
          <p:cNvPr id="50" name="Shape 45"/>
          <p:cNvSpPr/>
          <p:nvPr/>
        </p:nvSpPr>
        <p:spPr>
          <a:xfrm>
            <a:off x="8357616" y="4325112"/>
            <a:ext cx="82296" cy="82296"/>
          </a:xfrm>
          <a:prstGeom prst="ellipse">
            <a:avLst/>
          </a:prstGeom>
          <a:solidFill>
            <a:srgbClr val="3776AB"/>
          </a:solidFill>
          <a:ln/>
        </p:spPr>
      </p:sp>
      <p:sp>
        <p:nvSpPr>
          <p:cNvPr id="51" name="Text 46"/>
          <p:cNvSpPr/>
          <p:nvPr/>
        </p:nvSpPr>
        <p:spPr>
          <a:xfrm>
            <a:off x="8540496" y="4178808"/>
            <a:ext cx="2834640" cy="411480"/>
          </a:xfrm>
          <a:prstGeom prst="rect">
            <a:avLst/>
          </a:prstGeom>
          <a:noFill/>
          <a:ln/>
        </p:spPr>
        <p:txBody>
          <a:bodyPr wrap="square" rtlCol="0" anchor="t"/>
          <a:lstStyle/>
          <a:p>
            <a:pPr marL="0" indent="0">
              <a:buNone/>
            </a:pPr>
            <a:r>
              <a:rPr lang="en-US" sz="1100" dirty="0">
                <a:solidFill>
                  <a:srgbClr val="1B1F3B"/>
                </a:solidFill>
                <a:latin typeface="Calibri" pitchFamily="34" charset="0"/>
                <a:ea typeface="Calibri" pitchFamily="34" charset="-122"/>
                <a:cs typeface="Calibri" pitchFamily="34" charset="-120"/>
              </a:rPr>
              <a:t>JPEG thumbnail generation</a:t>
            </a:r>
            <a:endParaRPr lang="en-US" sz="1100" dirty="0"/>
          </a:p>
        </p:txBody>
      </p:sp>
      <p:sp>
        <p:nvSpPr>
          <p:cNvPr id="52" name="Text 47"/>
          <p:cNvSpPr/>
          <p:nvPr/>
        </p:nvSpPr>
        <p:spPr>
          <a:xfrm>
            <a:off x="548640" y="5806440"/>
            <a:ext cx="11064240" cy="457200"/>
          </a:xfrm>
          <a:prstGeom prst="rect">
            <a:avLst/>
          </a:prstGeom>
          <a:noFill/>
          <a:ln/>
        </p:spPr>
        <p:txBody>
          <a:bodyPr wrap="square" rtlCol="0" anchor="ctr"/>
          <a:lstStyle/>
          <a:p>
            <a:pPr marL="0" indent="0">
              <a:buNone/>
            </a:pPr>
            <a:r>
              <a:rPr lang="en-US" sz="1150" i="1" dirty="0">
                <a:solidFill>
                  <a:srgbClr val="5C6280"/>
                </a:solidFill>
                <a:latin typeface="Calibri" pitchFamily="34" charset="0"/>
                <a:ea typeface="Calibri" pitchFamily="34" charset="-122"/>
                <a:cs typeface="Calibri" pitchFamily="34" charset="-120"/>
              </a:rPr>
              <a:t>Handles multiple image modes — RGB, RGBA, and palette-based images — and processes the first frame of animated GIFs.</a:t>
            </a:r>
            <a:endParaRPr lang="en-US" sz="1150" dirty="0"/>
          </a:p>
        </p:txBody>
      </p:sp>
      <p:sp>
        <p:nvSpPr>
          <p:cNvPr id="53" name="Text 48"/>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5C6280"/>
                </a:solidFill>
                <a:latin typeface="Calibri" pitchFamily="34" charset="0"/>
                <a:ea typeface="Calibri" pitchFamily="34" charset="-122"/>
                <a:cs typeface="Calibri" pitchFamily="34" charset="-120"/>
              </a:rPr>
              <a:t>Technical Implementation</a:t>
            </a:r>
            <a:endParaRPr lang="en-US" sz="900" dirty="0"/>
          </a:p>
        </p:txBody>
      </p:sp>
      <p:sp>
        <p:nvSpPr>
          <p:cNvPr id="54" name="Text 49"/>
          <p:cNvSpPr/>
          <p:nvPr/>
        </p:nvSpPr>
        <p:spPr>
          <a:xfrm>
            <a:off x="9445752" y="6528816"/>
            <a:ext cx="2286000" cy="274320"/>
          </a:xfrm>
          <a:prstGeom prst="rect">
            <a:avLst/>
          </a:prstGeom>
          <a:noFill/>
          <a:ln/>
        </p:spPr>
        <p:txBody>
          <a:bodyPr wrap="square" rtlCol="0" anchor="ctr"/>
          <a:lstStyle/>
          <a:p>
            <a:pPr marL="0" indent="0" algn="r">
              <a:buNone/>
            </a:pPr>
            <a:r>
              <a:rPr lang="en-US" sz="900" dirty="0">
                <a:solidFill>
                  <a:srgbClr val="5C6280"/>
                </a:solidFill>
                <a:latin typeface="Calibri" pitchFamily="34" charset="0"/>
                <a:ea typeface="Calibri" pitchFamily="34" charset="-122"/>
                <a:cs typeface="Calibri" pitchFamily="34" charset="-120"/>
              </a:rPr>
              <a:t>TechFusion  |  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00C2E0"/>
                </a:solidFill>
                <a:latin typeface="Calibri" pitchFamily="34" charset="0"/>
                <a:ea typeface="Calibri" pitchFamily="34" charset="-122"/>
                <a:cs typeface="Calibri" pitchFamily="34" charset="-120"/>
              </a:rPr>
              <a:t>ENGINEERING QUALITY</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Security, Reliability &amp; Optimization</a:t>
            </a:r>
            <a:endParaRPr lang="en-US" sz="3000" dirty="0"/>
          </a:p>
        </p:txBody>
      </p:sp>
      <p:sp>
        <p:nvSpPr>
          <p:cNvPr id="4" name="Shape 2"/>
          <p:cNvSpPr/>
          <p:nvPr/>
        </p:nvSpPr>
        <p:spPr>
          <a:xfrm>
            <a:off x="548640" y="1554480"/>
            <a:ext cx="5212080" cy="4709160"/>
          </a:xfrm>
          <a:prstGeom prst="roundRect">
            <a:avLst>
              <a:gd name="adj" fmla="val 1942"/>
            </a:avLst>
          </a:prstGeom>
          <a:solidFill>
            <a:srgbClr val="161C4D"/>
          </a:solidFill>
          <a:ln w="12700">
            <a:solidFill>
              <a:srgbClr val="324086"/>
            </a:solidFill>
            <a:prstDash val="solid"/>
          </a:ln>
        </p:spPr>
      </p:sp>
      <p:sp>
        <p:nvSpPr>
          <p:cNvPr id="5" name="Shape 3"/>
          <p:cNvSpPr/>
          <p:nvPr/>
        </p:nvSpPr>
        <p:spPr>
          <a:xfrm>
            <a:off x="777240" y="1783080"/>
            <a:ext cx="502920" cy="502920"/>
          </a:xfrm>
          <a:prstGeom prst="ellipse">
            <a:avLst/>
          </a:prstGeom>
          <a:solidFill>
            <a:srgbClr val="E23744"/>
          </a:solidFill>
          <a:ln/>
        </p:spPr>
      </p:sp>
      <p:pic>
        <p:nvPicPr>
          <p:cNvPr id="6" name="Image 0" descr="/home/claude/deck/icons/shield.png"/>
          <p:cNvPicPr>
            <a:picLocks noChangeAspect="1"/>
          </p:cNvPicPr>
          <p:nvPr/>
        </p:nvPicPr>
        <p:blipFill>
          <a:blip r:embed="rId3"/>
          <a:stretch>
            <a:fillRect/>
          </a:stretch>
        </p:blipFill>
        <p:spPr>
          <a:xfrm>
            <a:off x="842620" y="1848460"/>
            <a:ext cx="372161" cy="372161"/>
          </a:xfrm>
          <a:prstGeom prst="rect">
            <a:avLst/>
          </a:prstGeom>
        </p:spPr>
      </p:pic>
      <p:sp>
        <p:nvSpPr>
          <p:cNvPr id="7" name="Text 4"/>
          <p:cNvSpPr/>
          <p:nvPr/>
        </p:nvSpPr>
        <p:spPr>
          <a:xfrm>
            <a:off x="1417320" y="1810512"/>
            <a:ext cx="274320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Security</a:t>
            </a:r>
            <a:endParaRPr lang="en-US" sz="1800" dirty="0"/>
          </a:p>
        </p:txBody>
      </p:sp>
      <p:sp>
        <p:nvSpPr>
          <p:cNvPr id="8" name="Shape 5"/>
          <p:cNvSpPr/>
          <p:nvPr/>
        </p:nvSpPr>
        <p:spPr>
          <a:xfrm>
            <a:off x="822960" y="2468880"/>
            <a:ext cx="256032" cy="256032"/>
          </a:xfrm>
          <a:prstGeom prst="ellipse">
            <a:avLst/>
          </a:prstGeom>
          <a:solidFill>
            <a:srgbClr val="1F2B63"/>
          </a:solidFill>
          <a:ln/>
        </p:spPr>
      </p:sp>
      <p:pic>
        <p:nvPicPr>
          <p:cNvPr id="9" name="Image 1" descr="/home/claude/deck/icons/check.png"/>
          <p:cNvPicPr>
            <a:picLocks noChangeAspect="1"/>
          </p:cNvPicPr>
          <p:nvPr/>
        </p:nvPicPr>
        <p:blipFill>
          <a:blip r:embed="rId4"/>
          <a:stretch>
            <a:fillRect/>
          </a:stretch>
        </p:blipFill>
        <p:spPr>
          <a:xfrm>
            <a:off x="856244" y="2502164"/>
            <a:ext cx="189464" cy="189464"/>
          </a:xfrm>
          <a:prstGeom prst="rect">
            <a:avLst/>
          </a:prstGeom>
        </p:spPr>
      </p:pic>
      <p:sp>
        <p:nvSpPr>
          <p:cNvPr id="10" name="Text 6"/>
          <p:cNvSpPr/>
          <p:nvPr/>
        </p:nvSpPr>
        <p:spPr>
          <a:xfrm>
            <a:off x="1207008" y="2432304"/>
            <a:ext cx="4297680" cy="384048"/>
          </a:xfrm>
          <a:prstGeom prst="rect">
            <a:avLst/>
          </a:prstGeom>
          <a:noFill/>
          <a:ln/>
        </p:spPr>
        <p:txBody>
          <a:bodyPr wrap="square" rtlCol="0" anchor="ctr"/>
          <a:lstStyle/>
          <a:p>
            <a:pPr marL="0" indent="0">
              <a:buNone/>
            </a:pPr>
            <a:r>
              <a:rPr lang="en-US" sz="1070" dirty="0">
                <a:solidFill>
                  <a:srgbClr val="CADCFC"/>
                </a:solidFill>
                <a:latin typeface="Calibri" pitchFamily="34" charset="0"/>
                <a:ea typeface="Calibri" pitchFamily="34" charset="-122"/>
                <a:cs typeface="Calibri" pitchFamily="34" charset="-120"/>
              </a:rPr>
              <a:t>AWS credentials stored in .env (excluded from version control)</a:t>
            </a:r>
            <a:endParaRPr lang="en-US" sz="1070" dirty="0"/>
          </a:p>
        </p:txBody>
      </p:sp>
      <p:sp>
        <p:nvSpPr>
          <p:cNvPr id="11" name="Shape 7"/>
          <p:cNvSpPr/>
          <p:nvPr/>
        </p:nvSpPr>
        <p:spPr>
          <a:xfrm>
            <a:off x="822960" y="2930652"/>
            <a:ext cx="256032" cy="256032"/>
          </a:xfrm>
          <a:prstGeom prst="ellipse">
            <a:avLst/>
          </a:prstGeom>
          <a:solidFill>
            <a:srgbClr val="1F2B63"/>
          </a:solidFill>
          <a:ln/>
        </p:spPr>
      </p:sp>
      <p:pic>
        <p:nvPicPr>
          <p:cNvPr id="12" name="Image 2" descr="/home/claude/deck/icons/check.png"/>
          <p:cNvPicPr>
            <a:picLocks noChangeAspect="1"/>
          </p:cNvPicPr>
          <p:nvPr/>
        </p:nvPicPr>
        <p:blipFill>
          <a:blip r:embed="rId4"/>
          <a:stretch>
            <a:fillRect/>
          </a:stretch>
        </p:blipFill>
        <p:spPr>
          <a:xfrm>
            <a:off x="856244" y="2963936"/>
            <a:ext cx="189464" cy="189464"/>
          </a:xfrm>
          <a:prstGeom prst="rect">
            <a:avLst/>
          </a:prstGeom>
        </p:spPr>
      </p:pic>
      <p:sp>
        <p:nvSpPr>
          <p:cNvPr id="13" name="Text 8"/>
          <p:cNvSpPr/>
          <p:nvPr/>
        </p:nvSpPr>
        <p:spPr>
          <a:xfrm>
            <a:off x="1207008" y="2894076"/>
            <a:ext cx="4297680" cy="384048"/>
          </a:xfrm>
          <a:prstGeom prst="rect">
            <a:avLst/>
          </a:prstGeom>
          <a:noFill/>
          <a:ln/>
        </p:spPr>
        <p:txBody>
          <a:bodyPr wrap="square" rtlCol="0" anchor="ctr"/>
          <a:lstStyle/>
          <a:p>
            <a:pPr marL="0" indent="0">
              <a:buNone/>
            </a:pPr>
            <a:r>
              <a:rPr lang="en-US" sz="1070" dirty="0">
                <a:solidFill>
                  <a:srgbClr val="CADCFC"/>
                </a:solidFill>
                <a:latin typeface="Calibri" pitchFamily="34" charset="0"/>
                <a:ea typeface="Calibri" pitchFamily="34" charset="-122"/>
                <a:cs typeface="Calibri" pitchFamily="34" charset="-120"/>
              </a:rPr>
              <a:t>Private S3 bucket — no public access</a:t>
            </a:r>
            <a:endParaRPr lang="en-US" sz="1070" dirty="0"/>
          </a:p>
        </p:txBody>
      </p:sp>
      <p:sp>
        <p:nvSpPr>
          <p:cNvPr id="14" name="Shape 9"/>
          <p:cNvSpPr/>
          <p:nvPr/>
        </p:nvSpPr>
        <p:spPr>
          <a:xfrm>
            <a:off x="822960" y="3392424"/>
            <a:ext cx="256032" cy="256032"/>
          </a:xfrm>
          <a:prstGeom prst="ellipse">
            <a:avLst/>
          </a:prstGeom>
          <a:solidFill>
            <a:srgbClr val="1F2B63"/>
          </a:solidFill>
          <a:ln/>
        </p:spPr>
      </p:sp>
      <p:pic>
        <p:nvPicPr>
          <p:cNvPr id="15" name="Image 3" descr="/home/claude/deck/icons/check.png"/>
          <p:cNvPicPr>
            <a:picLocks noChangeAspect="1"/>
          </p:cNvPicPr>
          <p:nvPr/>
        </p:nvPicPr>
        <p:blipFill>
          <a:blip r:embed="rId4"/>
          <a:stretch>
            <a:fillRect/>
          </a:stretch>
        </p:blipFill>
        <p:spPr>
          <a:xfrm>
            <a:off x="856244" y="3425708"/>
            <a:ext cx="189464" cy="189464"/>
          </a:xfrm>
          <a:prstGeom prst="rect">
            <a:avLst/>
          </a:prstGeom>
        </p:spPr>
      </p:pic>
      <p:sp>
        <p:nvSpPr>
          <p:cNvPr id="16" name="Text 10"/>
          <p:cNvSpPr/>
          <p:nvPr/>
        </p:nvSpPr>
        <p:spPr>
          <a:xfrm>
            <a:off x="1207008" y="3355848"/>
            <a:ext cx="4297680" cy="384048"/>
          </a:xfrm>
          <a:prstGeom prst="rect">
            <a:avLst/>
          </a:prstGeom>
          <a:noFill/>
          <a:ln/>
        </p:spPr>
        <p:txBody>
          <a:bodyPr wrap="square" rtlCol="0" anchor="ctr"/>
          <a:lstStyle/>
          <a:p>
            <a:pPr marL="0" indent="0">
              <a:buNone/>
            </a:pPr>
            <a:r>
              <a:rPr lang="en-US" sz="1070" dirty="0">
                <a:solidFill>
                  <a:srgbClr val="CADCFC"/>
                </a:solidFill>
                <a:latin typeface="Calibri" pitchFamily="34" charset="0"/>
                <a:ea typeface="Calibri" pitchFamily="34" charset="-122"/>
                <a:cs typeface="Calibri" pitchFamily="34" charset="-120"/>
              </a:rPr>
              <a:t>Presigned URLs instead of public image links</a:t>
            </a:r>
            <a:endParaRPr lang="en-US" sz="1070" dirty="0"/>
          </a:p>
        </p:txBody>
      </p:sp>
      <p:sp>
        <p:nvSpPr>
          <p:cNvPr id="17" name="Shape 11"/>
          <p:cNvSpPr/>
          <p:nvPr/>
        </p:nvSpPr>
        <p:spPr>
          <a:xfrm>
            <a:off x="822960" y="3854196"/>
            <a:ext cx="256032" cy="256032"/>
          </a:xfrm>
          <a:prstGeom prst="ellipse">
            <a:avLst/>
          </a:prstGeom>
          <a:solidFill>
            <a:srgbClr val="1F2B63"/>
          </a:solidFill>
          <a:ln/>
        </p:spPr>
      </p:sp>
      <p:pic>
        <p:nvPicPr>
          <p:cNvPr id="18" name="Image 4" descr="/home/claude/deck/icons/check.png"/>
          <p:cNvPicPr>
            <a:picLocks noChangeAspect="1"/>
          </p:cNvPicPr>
          <p:nvPr/>
        </p:nvPicPr>
        <p:blipFill>
          <a:blip r:embed="rId4"/>
          <a:stretch>
            <a:fillRect/>
          </a:stretch>
        </p:blipFill>
        <p:spPr>
          <a:xfrm>
            <a:off x="856244" y="3887480"/>
            <a:ext cx="189464" cy="189464"/>
          </a:xfrm>
          <a:prstGeom prst="rect">
            <a:avLst/>
          </a:prstGeom>
        </p:spPr>
      </p:pic>
      <p:sp>
        <p:nvSpPr>
          <p:cNvPr id="19" name="Text 12"/>
          <p:cNvSpPr/>
          <p:nvPr/>
        </p:nvSpPr>
        <p:spPr>
          <a:xfrm>
            <a:off x="1207008" y="3817620"/>
            <a:ext cx="4297680" cy="384048"/>
          </a:xfrm>
          <a:prstGeom prst="rect">
            <a:avLst/>
          </a:prstGeom>
          <a:noFill/>
          <a:ln/>
        </p:spPr>
        <p:txBody>
          <a:bodyPr wrap="square" rtlCol="0" anchor="ctr"/>
          <a:lstStyle/>
          <a:p>
            <a:pPr marL="0" indent="0">
              <a:buNone/>
            </a:pPr>
            <a:r>
              <a:rPr lang="en-US" sz="1070" dirty="0">
                <a:solidFill>
                  <a:srgbClr val="CADCFC"/>
                </a:solidFill>
                <a:latin typeface="Calibri" pitchFamily="34" charset="0"/>
                <a:ea typeface="Calibri" pitchFamily="34" charset="-122"/>
                <a:cs typeface="Calibri" pitchFamily="34" charset="-120"/>
              </a:rPr>
              <a:t>Server-side MIME-type validation</a:t>
            </a:r>
            <a:endParaRPr lang="en-US" sz="1070" dirty="0"/>
          </a:p>
        </p:txBody>
      </p:sp>
      <p:sp>
        <p:nvSpPr>
          <p:cNvPr id="20" name="Shape 13"/>
          <p:cNvSpPr/>
          <p:nvPr/>
        </p:nvSpPr>
        <p:spPr>
          <a:xfrm>
            <a:off x="822960" y="4315968"/>
            <a:ext cx="256032" cy="256032"/>
          </a:xfrm>
          <a:prstGeom prst="ellipse">
            <a:avLst/>
          </a:prstGeom>
          <a:solidFill>
            <a:srgbClr val="1F2B63"/>
          </a:solidFill>
          <a:ln/>
        </p:spPr>
      </p:sp>
      <p:pic>
        <p:nvPicPr>
          <p:cNvPr id="21" name="Image 5" descr="/home/claude/deck/icons/check.png"/>
          <p:cNvPicPr>
            <a:picLocks noChangeAspect="1"/>
          </p:cNvPicPr>
          <p:nvPr/>
        </p:nvPicPr>
        <p:blipFill>
          <a:blip r:embed="rId4"/>
          <a:stretch>
            <a:fillRect/>
          </a:stretch>
        </p:blipFill>
        <p:spPr>
          <a:xfrm>
            <a:off x="856244" y="4349252"/>
            <a:ext cx="189464" cy="189464"/>
          </a:xfrm>
          <a:prstGeom prst="rect">
            <a:avLst/>
          </a:prstGeom>
        </p:spPr>
      </p:pic>
      <p:sp>
        <p:nvSpPr>
          <p:cNvPr id="22" name="Text 14"/>
          <p:cNvSpPr/>
          <p:nvPr/>
        </p:nvSpPr>
        <p:spPr>
          <a:xfrm>
            <a:off x="1207008" y="4279392"/>
            <a:ext cx="4297680" cy="384048"/>
          </a:xfrm>
          <a:prstGeom prst="rect">
            <a:avLst/>
          </a:prstGeom>
          <a:noFill/>
          <a:ln/>
        </p:spPr>
        <p:txBody>
          <a:bodyPr wrap="square" rtlCol="0" anchor="ctr"/>
          <a:lstStyle/>
          <a:p>
            <a:pPr marL="0" indent="0">
              <a:buNone/>
            </a:pPr>
            <a:r>
              <a:rPr lang="en-US" sz="1070" dirty="0">
                <a:solidFill>
                  <a:srgbClr val="CADCFC"/>
                </a:solidFill>
                <a:latin typeface="Calibri" pitchFamily="34" charset="0"/>
                <a:ea typeface="Calibri" pitchFamily="34" charset="-122"/>
                <a:cs typeface="Calibri" pitchFamily="34" charset="-120"/>
              </a:rPr>
              <a:t>File extension &amp; file size validation</a:t>
            </a:r>
            <a:endParaRPr lang="en-US" sz="1070" dirty="0"/>
          </a:p>
        </p:txBody>
      </p:sp>
      <p:sp>
        <p:nvSpPr>
          <p:cNvPr id="23" name="Shape 15"/>
          <p:cNvSpPr/>
          <p:nvPr/>
        </p:nvSpPr>
        <p:spPr>
          <a:xfrm>
            <a:off x="822960" y="4777740"/>
            <a:ext cx="256032" cy="256032"/>
          </a:xfrm>
          <a:prstGeom prst="ellipse">
            <a:avLst/>
          </a:prstGeom>
          <a:solidFill>
            <a:srgbClr val="1F2B63"/>
          </a:solidFill>
          <a:ln/>
        </p:spPr>
      </p:sp>
      <p:pic>
        <p:nvPicPr>
          <p:cNvPr id="24" name="Image 6" descr="/home/claude/deck/icons/check.png"/>
          <p:cNvPicPr>
            <a:picLocks noChangeAspect="1"/>
          </p:cNvPicPr>
          <p:nvPr/>
        </p:nvPicPr>
        <p:blipFill>
          <a:blip r:embed="rId4"/>
          <a:stretch>
            <a:fillRect/>
          </a:stretch>
        </p:blipFill>
        <p:spPr>
          <a:xfrm>
            <a:off x="856244" y="4811024"/>
            <a:ext cx="189464" cy="189464"/>
          </a:xfrm>
          <a:prstGeom prst="rect">
            <a:avLst/>
          </a:prstGeom>
        </p:spPr>
      </p:pic>
      <p:sp>
        <p:nvSpPr>
          <p:cNvPr id="25" name="Text 16"/>
          <p:cNvSpPr/>
          <p:nvPr/>
        </p:nvSpPr>
        <p:spPr>
          <a:xfrm>
            <a:off x="1207008" y="4741164"/>
            <a:ext cx="4297680" cy="384048"/>
          </a:xfrm>
          <a:prstGeom prst="rect">
            <a:avLst/>
          </a:prstGeom>
          <a:noFill/>
          <a:ln/>
        </p:spPr>
        <p:txBody>
          <a:bodyPr wrap="square" rtlCol="0" anchor="ctr"/>
          <a:lstStyle/>
          <a:p>
            <a:pPr marL="0" indent="0">
              <a:buNone/>
            </a:pPr>
            <a:r>
              <a:rPr lang="en-US" sz="1070" dirty="0">
                <a:solidFill>
                  <a:srgbClr val="CADCFC"/>
                </a:solidFill>
                <a:latin typeface="Calibri" pitchFamily="34" charset="0"/>
                <a:ea typeface="Calibri" pitchFamily="34" charset="-122"/>
                <a:cs typeface="Calibri" pitchFamily="34" charset="-120"/>
              </a:rPr>
              <a:t>Unique randomized filenames</a:t>
            </a:r>
            <a:endParaRPr lang="en-US" sz="1070" dirty="0"/>
          </a:p>
        </p:txBody>
      </p:sp>
      <p:sp>
        <p:nvSpPr>
          <p:cNvPr id="26" name="Shape 17"/>
          <p:cNvSpPr/>
          <p:nvPr/>
        </p:nvSpPr>
        <p:spPr>
          <a:xfrm>
            <a:off x="822960" y="5239512"/>
            <a:ext cx="256032" cy="256032"/>
          </a:xfrm>
          <a:prstGeom prst="ellipse">
            <a:avLst/>
          </a:prstGeom>
          <a:solidFill>
            <a:srgbClr val="1F2B63"/>
          </a:solidFill>
          <a:ln/>
        </p:spPr>
      </p:sp>
      <p:pic>
        <p:nvPicPr>
          <p:cNvPr id="27" name="Image 7" descr="/home/claude/deck/icons/check.png"/>
          <p:cNvPicPr>
            <a:picLocks noChangeAspect="1"/>
          </p:cNvPicPr>
          <p:nvPr/>
        </p:nvPicPr>
        <p:blipFill>
          <a:blip r:embed="rId4"/>
          <a:stretch>
            <a:fillRect/>
          </a:stretch>
        </p:blipFill>
        <p:spPr>
          <a:xfrm>
            <a:off x="856244" y="5272796"/>
            <a:ext cx="189464" cy="189464"/>
          </a:xfrm>
          <a:prstGeom prst="rect">
            <a:avLst/>
          </a:prstGeom>
        </p:spPr>
      </p:pic>
      <p:sp>
        <p:nvSpPr>
          <p:cNvPr id="28" name="Text 18"/>
          <p:cNvSpPr/>
          <p:nvPr/>
        </p:nvSpPr>
        <p:spPr>
          <a:xfrm>
            <a:off x="1207008" y="5202936"/>
            <a:ext cx="4297680" cy="384048"/>
          </a:xfrm>
          <a:prstGeom prst="rect">
            <a:avLst/>
          </a:prstGeom>
          <a:noFill/>
          <a:ln/>
        </p:spPr>
        <p:txBody>
          <a:bodyPr wrap="square" rtlCol="0" anchor="ctr"/>
          <a:lstStyle/>
          <a:p>
            <a:pPr marL="0" indent="0">
              <a:buNone/>
            </a:pPr>
            <a:r>
              <a:rPr lang="en-US" sz="1070" dirty="0">
                <a:solidFill>
                  <a:srgbClr val="CADCFC"/>
                </a:solidFill>
                <a:latin typeface="Calibri" pitchFamily="34" charset="0"/>
                <a:ea typeface="Calibri" pitchFamily="34" charset="-122"/>
                <a:cs typeface="Calibri" pitchFamily="34" charset="-120"/>
              </a:rPr>
              <a:t>Path traversal protection</a:t>
            </a:r>
            <a:endParaRPr lang="en-US" sz="1070" dirty="0"/>
          </a:p>
        </p:txBody>
      </p:sp>
      <p:sp>
        <p:nvSpPr>
          <p:cNvPr id="29" name="Shape 19"/>
          <p:cNvSpPr/>
          <p:nvPr/>
        </p:nvSpPr>
        <p:spPr>
          <a:xfrm>
            <a:off x="822960" y="5701284"/>
            <a:ext cx="256032" cy="256032"/>
          </a:xfrm>
          <a:prstGeom prst="ellipse">
            <a:avLst/>
          </a:prstGeom>
          <a:solidFill>
            <a:srgbClr val="1F2B63"/>
          </a:solidFill>
          <a:ln/>
        </p:spPr>
      </p:sp>
      <p:pic>
        <p:nvPicPr>
          <p:cNvPr id="30" name="Image 8" descr="/home/claude/deck/icons/check.png"/>
          <p:cNvPicPr>
            <a:picLocks noChangeAspect="1"/>
          </p:cNvPicPr>
          <p:nvPr/>
        </p:nvPicPr>
        <p:blipFill>
          <a:blip r:embed="rId4"/>
          <a:stretch>
            <a:fillRect/>
          </a:stretch>
        </p:blipFill>
        <p:spPr>
          <a:xfrm>
            <a:off x="856244" y="5734568"/>
            <a:ext cx="189464" cy="189464"/>
          </a:xfrm>
          <a:prstGeom prst="rect">
            <a:avLst/>
          </a:prstGeom>
        </p:spPr>
      </p:pic>
      <p:sp>
        <p:nvSpPr>
          <p:cNvPr id="31" name="Text 20"/>
          <p:cNvSpPr/>
          <p:nvPr/>
        </p:nvSpPr>
        <p:spPr>
          <a:xfrm>
            <a:off x="1207008" y="5664708"/>
            <a:ext cx="4297680" cy="384048"/>
          </a:xfrm>
          <a:prstGeom prst="rect">
            <a:avLst/>
          </a:prstGeom>
          <a:noFill/>
          <a:ln/>
        </p:spPr>
        <p:txBody>
          <a:bodyPr wrap="square" rtlCol="0" anchor="ctr"/>
          <a:lstStyle/>
          <a:p>
            <a:pPr marL="0" indent="0">
              <a:buNone/>
            </a:pPr>
            <a:r>
              <a:rPr lang="en-US" sz="1070" dirty="0">
                <a:solidFill>
                  <a:srgbClr val="CADCFC"/>
                </a:solidFill>
                <a:latin typeface="Calibri" pitchFamily="34" charset="0"/>
                <a:ea typeface="Calibri" pitchFamily="34" charset="-122"/>
                <a:cs typeface="Calibri" pitchFamily="34" charset="-120"/>
              </a:rPr>
              <a:t>Least-privilege IAM policies</a:t>
            </a:r>
            <a:endParaRPr lang="en-US" sz="1070" dirty="0"/>
          </a:p>
        </p:txBody>
      </p:sp>
      <p:sp>
        <p:nvSpPr>
          <p:cNvPr id="32" name="Shape 21"/>
          <p:cNvSpPr/>
          <p:nvPr/>
        </p:nvSpPr>
        <p:spPr>
          <a:xfrm>
            <a:off x="6400800" y="1554480"/>
            <a:ext cx="5212080" cy="4709160"/>
          </a:xfrm>
          <a:prstGeom prst="roundRect">
            <a:avLst>
              <a:gd name="adj" fmla="val 1942"/>
            </a:avLst>
          </a:prstGeom>
          <a:solidFill>
            <a:srgbClr val="161C4D"/>
          </a:solidFill>
          <a:ln w="12700">
            <a:solidFill>
              <a:srgbClr val="324086"/>
            </a:solidFill>
            <a:prstDash val="solid"/>
          </a:ln>
        </p:spPr>
      </p:sp>
      <p:sp>
        <p:nvSpPr>
          <p:cNvPr id="33" name="Shape 22"/>
          <p:cNvSpPr/>
          <p:nvPr/>
        </p:nvSpPr>
        <p:spPr>
          <a:xfrm>
            <a:off x="6629400" y="1783080"/>
            <a:ext cx="502920" cy="502920"/>
          </a:xfrm>
          <a:prstGeom prst="ellipse">
            <a:avLst/>
          </a:prstGeom>
          <a:solidFill>
            <a:srgbClr val="12B76A"/>
          </a:solidFill>
          <a:ln/>
        </p:spPr>
      </p:sp>
      <p:pic>
        <p:nvPicPr>
          <p:cNvPr id="34" name="Image 9" descr="/home/claude/deck/icons/gear.png"/>
          <p:cNvPicPr>
            <a:picLocks noChangeAspect="1"/>
          </p:cNvPicPr>
          <p:nvPr/>
        </p:nvPicPr>
        <p:blipFill>
          <a:blip r:embed="rId5"/>
          <a:stretch>
            <a:fillRect/>
          </a:stretch>
        </p:blipFill>
        <p:spPr>
          <a:xfrm>
            <a:off x="6694780" y="1848460"/>
            <a:ext cx="372161" cy="372161"/>
          </a:xfrm>
          <a:prstGeom prst="rect">
            <a:avLst/>
          </a:prstGeom>
        </p:spPr>
      </p:pic>
      <p:sp>
        <p:nvSpPr>
          <p:cNvPr id="35" name="Text 23"/>
          <p:cNvSpPr/>
          <p:nvPr/>
        </p:nvSpPr>
        <p:spPr>
          <a:xfrm>
            <a:off x="7269480" y="1810512"/>
            <a:ext cx="420624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Reliability &amp; Optimization</a:t>
            </a:r>
            <a:endParaRPr lang="en-US" sz="1800" dirty="0"/>
          </a:p>
        </p:txBody>
      </p:sp>
      <p:sp>
        <p:nvSpPr>
          <p:cNvPr id="36" name="Shape 24"/>
          <p:cNvSpPr/>
          <p:nvPr/>
        </p:nvSpPr>
        <p:spPr>
          <a:xfrm>
            <a:off x="6675120" y="2468880"/>
            <a:ext cx="256032" cy="256032"/>
          </a:xfrm>
          <a:prstGeom prst="ellipse">
            <a:avLst/>
          </a:prstGeom>
          <a:solidFill>
            <a:srgbClr val="1F2B63"/>
          </a:solidFill>
          <a:ln/>
        </p:spPr>
      </p:sp>
      <p:pic>
        <p:nvPicPr>
          <p:cNvPr id="37" name="Image 10" descr="/home/claude/deck/icons/check.png"/>
          <p:cNvPicPr>
            <a:picLocks noChangeAspect="1"/>
          </p:cNvPicPr>
          <p:nvPr/>
        </p:nvPicPr>
        <p:blipFill>
          <a:blip r:embed="rId4"/>
          <a:stretch>
            <a:fillRect/>
          </a:stretch>
        </p:blipFill>
        <p:spPr>
          <a:xfrm>
            <a:off x="6708404" y="2502164"/>
            <a:ext cx="189464" cy="189464"/>
          </a:xfrm>
          <a:prstGeom prst="rect">
            <a:avLst/>
          </a:prstGeom>
        </p:spPr>
      </p:pic>
      <p:sp>
        <p:nvSpPr>
          <p:cNvPr id="38" name="Text 25"/>
          <p:cNvSpPr/>
          <p:nvPr/>
        </p:nvSpPr>
        <p:spPr>
          <a:xfrm>
            <a:off x="7059168" y="2432304"/>
            <a:ext cx="4297680" cy="457200"/>
          </a:xfrm>
          <a:prstGeom prst="rect">
            <a:avLst/>
          </a:prstGeom>
          <a:noFill/>
          <a:ln/>
        </p:spPr>
        <p:txBody>
          <a:bodyPr wrap="square" rtlCol="0" anchor="ctr"/>
          <a:lstStyle/>
          <a:p>
            <a:pPr marL="0" indent="0">
              <a:buNone/>
            </a:pPr>
            <a:r>
              <a:rPr lang="en-US" sz="1070" dirty="0">
                <a:solidFill>
                  <a:srgbClr val="CADCFC"/>
                </a:solidFill>
                <a:latin typeface="Calibri" pitchFamily="34" charset="0"/>
                <a:ea typeface="Calibri" pitchFamily="34" charset="-122"/>
                <a:cs typeface="Calibri" pitchFamily="34" charset="-120"/>
              </a:rPr>
              <a:t>S3 event scoped to the uploads/ prefix only</a:t>
            </a:r>
            <a:endParaRPr lang="en-US" sz="1070" dirty="0"/>
          </a:p>
        </p:txBody>
      </p:sp>
      <p:sp>
        <p:nvSpPr>
          <p:cNvPr id="39" name="Shape 26"/>
          <p:cNvSpPr/>
          <p:nvPr/>
        </p:nvSpPr>
        <p:spPr>
          <a:xfrm>
            <a:off x="6675120" y="3017520"/>
            <a:ext cx="256032" cy="256032"/>
          </a:xfrm>
          <a:prstGeom prst="ellipse">
            <a:avLst/>
          </a:prstGeom>
          <a:solidFill>
            <a:srgbClr val="1F2B63"/>
          </a:solidFill>
          <a:ln/>
        </p:spPr>
      </p:sp>
      <p:pic>
        <p:nvPicPr>
          <p:cNvPr id="40" name="Image 11" descr="/home/claude/deck/icons/check.png"/>
          <p:cNvPicPr>
            <a:picLocks noChangeAspect="1"/>
          </p:cNvPicPr>
          <p:nvPr/>
        </p:nvPicPr>
        <p:blipFill>
          <a:blip r:embed="rId4"/>
          <a:stretch>
            <a:fillRect/>
          </a:stretch>
        </p:blipFill>
        <p:spPr>
          <a:xfrm>
            <a:off x="6708404" y="3050804"/>
            <a:ext cx="189464" cy="189464"/>
          </a:xfrm>
          <a:prstGeom prst="rect">
            <a:avLst/>
          </a:prstGeom>
        </p:spPr>
      </p:pic>
      <p:sp>
        <p:nvSpPr>
          <p:cNvPr id="41" name="Text 27"/>
          <p:cNvSpPr/>
          <p:nvPr/>
        </p:nvSpPr>
        <p:spPr>
          <a:xfrm>
            <a:off x="7059168" y="2980944"/>
            <a:ext cx="4297680" cy="457200"/>
          </a:xfrm>
          <a:prstGeom prst="rect">
            <a:avLst/>
          </a:prstGeom>
          <a:noFill/>
          <a:ln/>
        </p:spPr>
        <p:txBody>
          <a:bodyPr wrap="square" rtlCol="0" anchor="ctr"/>
          <a:lstStyle/>
          <a:p>
            <a:pPr marL="0" indent="0">
              <a:buNone/>
            </a:pPr>
            <a:r>
              <a:rPr lang="en-US" sz="1070" dirty="0">
                <a:solidFill>
                  <a:srgbClr val="CADCFC"/>
                </a:solidFill>
                <a:latin typeface="Calibri" pitchFamily="34" charset="0"/>
                <a:ea typeface="Calibri" pitchFamily="34" charset="-122"/>
                <a:cs typeface="Calibri" pitchFamily="34" charset="-120"/>
              </a:rPr>
              <a:t>Prevents Lambda from re-triggering on its own output</a:t>
            </a:r>
            <a:endParaRPr lang="en-US" sz="1070" dirty="0"/>
          </a:p>
        </p:txBody>
      </p:sp>
      <p:sp>
        <p:nvSpPr>
          <p:cNvPr id="42" name="Shape 28"/>
          <p:cNvSpPr/>
          <p:nvPr/>
        </p:nvSpPr>
        <p:spPr>
          <a:xfrm>
            <a:off x="6675120" y="3566160"/>
            <a:ext cx="256032" cy="256032"/>
          </a:xfrm>
          <a:prstGeom prst="ellipse">
            <a:avLst/>
          </a:prstGeom>
          <a:solidFill>
            <a:srgbClr val="1F2B63"/>
          </a:solidFill>
          <a:ln/>
        </p:spPr>
      </p:sp>
      <p:pic>
        <p:nvPicPr>
          <p:cNvPr id="43" name="Image 12" descr="/home/claude/deck/icons/check.png"/>
          <p:cNvPicPr>
            <a:picLocks noChangeAspect="1"/>
          </p:cNvPicPr>
          <p:nvPr/>
        </p:nvPicPr>
        <p:blipFill>
          <a:blip r:embed="rId4"/>
          <a:stretch>
            <a:fillRect/>
          </a:stretch>
        </p:blipFill>
        <p:spPr>
          <a:xfrm>
            <a:off x="6708404" y="3599444"/>
            <a:ext cx="189464" cy="189464"/>
          </a:xfrm>
          <a:prstGeom prst="rect">
            <a:avLst/>
          </a:prstGeom>
        </p:spPr>
      </p:pic>
      <p:sp>
        <p:nvSpPr>
          <p:cNvPr id="44" name="Text 29"/>
          <p:cNvSpPr/>
          <p:nvPr/>
        </p:nvSpPr>
        <p:spPr>
          <a:xfrm>
            <a:off x="7059168" y="3529584"/>
            <a:ext cx="4297680" cy="457200"/>
          </a:xfrm>
          <a:prstGeom prst="rect">
            <a:avLst/>
          </a:prstGeom>
          <a:noFill/>
          <a:ln/>
        </p:spPr>
        <p:txBody>
          <a:bodyPr wrap="square" rtlCol="0" anchor="ctr"/>
          <a:lstStyle/>
          <a:p>
            <a:pPr marL="0" indent="0">
              <a:buNone/>
            </a:pPr>
            <a:r>
              <a:rPr lang="en-US" sz="1070" dirty="0">
                <a:solidFill>
                  <a:srgbClr val="CADCFC"/>
                </a:solidFill>
                <a:latin typeface="Calibri" pitchFamily="34" charset="0"/>
                <a:ea typeface="Calibri" pitchFamily="34" charset="-122"/>
                <a:cs typeface="Calibri" pitchFamily="34" charset="-120"/>
              </a:rPr>
              <a:t>Thumbnail generation runs asynchronously</a:t>
            </a:r>
            <a:endParaRPr lang="en-US" sz="1070" dirty="0"/>
          </a:p>
        </p:txBody>
      </p:sp>
      <p:sp>
        <p:nvSpPr>
          <p:cNvPr id="45" name="Shape 30"/>
          <p:cNvSpPr/>
          <p:nvPr/>
        </p:nvSpPr>
        <p:spPr>
          <a:xfrm>
            <a:off x="6675120" y="4114800"/>
            <a:ext cx="256032" cy="256032"/>
          </a:xfrm>
          <a:prstGeom prst="ellipse">
            <a:avLst/>
          </a:prstGeom>
          <a:solidFill>
            <a:srgbClr val="1F2B63"/>
          </a:solidFill>
          <a:ln/>
        </p:spPr>
      </p:sp>
      <p:pic>
        <p:nvPicPr>
          <p:cNvPr id="46" name="Image 13" descr="/home/claude/deck/icons/check.png"/>
          <p:cNvPicPr>
            <a:picLocks noChangeAspect="1"/>
          </p:cNvPicPr>
          <p:nvPr/>
        </p:nvPicPr>
        <p:blipFill>
          <a:blip r:embed="rId4"/>
          <a:stretch>
            <a:fillRect/>
          </a:stretch>
        </p:blipFill>
        <p:spPr>
          <a:xfrm>
            <a:off x="6708404" y="4148084"/>
            <a:ext cx="189464" cy="189464"/>
          </a:xfrm>
          <a:prstGeom prst="rect">
            <a:avLst/>
          </a:prstGeom>
        </p:spPr>
      </p:pic>
      <p:sp>
        <p:nvSpPr>
          <p:cNvPr id="47" name="Text 31"/>
          <p:cNvSpPr/>
          <p:nvPr/>
        </p:nvSpPr>
        <p:spPr>
          <a:xfrm>
            <a:off x="7059168" y="4078224"/>
            <a:ext cx="4297680" cy="457200"/>
          </a:xfrm>
          <a:prstGeom prst="rect">
            <a:avLst/>
          </a:prstGeom>
          <a:noFill/>
          <a:ln/>
        </p:spPr>
        <p:txBody>
          <a:bodyPr wrap="square" rtlCol="0" anchor="ctr"/>
          <a:lstStyle/>
          <a:p>
            <a:pPr marL="0" indent="0">
              <a:buNone/>
            </a:pPr>
            <a:r>
              <a:rPr lang="en-US" sz="1070" dirty="0">
                <a:solidFill>
                  <a:srgbClr val="CADCFC"/>
                </a:solidFill>
                <a:latin typeface="Calibri" pitchFamily="34" charset="0"/>
                <a:ea typeface="Calibri" pitchFamily="34" charset="-122"/>
                <a:cs typeface="Calibri" pitchFamily="34" charset="-120"/>
              </a:rPr>
              <a:t>Aspect ratio always preserved</a:t>
            </a:r>
            <a:endParaRPr lang="en-US" sz="1070" dirty="0"/>
          </a:p>
        </p:txBody>
      </p:sp>
      <p:sp>
        <p:nvSpPr>
          <p:cNvPr id="48" name="Shape 32"/>
          <p:cNvSpPr/>
          <p:nvPr/>
        </p:nvSpPr>
        <p:spPr>
          <a:xfrm>
            <a:off x="6675120" y="4663440"/>
            <a:ext cx="256032" cy="256032"/>
          </a:xfrm>
          <a:prstGeom prst="ellipse">
            <a:avLst/>
          </a:prstGeom>
          <a:solidFill>
            <a:srgbClr val="1F2B63"/>
          </a:solidFill>
          <a:ln/>
        </p:spPr>
      </p:sp>
      <p:pic>
        <p:nvPicPr>
          <p:cNvPr id="49" name="Image 14" descr="/home/claude/deck/icons/check.png"/>
          <p:cNvPicPr>
            <a:picLocks noChangeAspect="1"/>
          </p:cNvPicPr>
          <p:nvPr/>
        </p:nvPicPr>
        <p:blipFill>
          <a:blip r:embed="rId4"/>
          <a:stretch>
            <a:fillRect/>
          </a:stretch>
        </p:blipFill>
        <p:spPr>
          <a:xfrm>
            <a:off x="6708404" y="4696724"/>
            <a:ext cx="189464" cy="189464"/>
          </a:xfrm>
          <a:prstGeom prst="rect">
            <a:avLst/>
          </a:prstGeom>
        </p:spPr>
      </p:pic>
      <p:sp>
        <p:nvSpPr>
          <p:cNvPr id="50" name="Text 33"/>
          <p:cNvSpPr/>
          <p:nvPr/>
        </p:nvSpPr>
        <p:spPr>
          <a:xfrm>
            <a:off x="7059168" y="4626864"/>
            <a:ext cx="4297680" cy="457200"/>
          </a:xfrm>
          <a:prstGeom prst="rect">
            <a:avLst/>
          </a:prstGeom>
          <a:noFill/>
          <a:ln/>
        </p:spPr>
        <p:txBody>
          <a:bodyPr wrap="square" rtlCol="0" anchor="ctr"/>
          <a:lstStyle/>
          <a:p>
            <a:pPr marL="0" indent="0">
              <a:buNone/>
            </a:pPr>
            <a:r>
              <a:rPr lang="en-US" sz="1070" dirty="0">
                <a:solidFill>
                  <a:srgbClr val="CADCFC"/>
                </a:solidFill>
                <a:latin typeface="Calibri" pitchFamily="34" charset="0"/>
                <a:ea typeface="Calibri" pitchFamily="34" charset="-122"/>
                <a:cs typeface="Calibri" pitchFamily="34" charset="-120"/>
              </a:rPr>
              <a:t>Images are never unnecessarily enlarged</a:t>
            </a:r>
            <a:endParaRPr lang="en-US" sz="1070" dirty="0"/>
          </a:p>
        </p:txBody>
      </p:sp>
      <p:sp>
        <p:nvSpPr>
          <p:cNvPr id="51" name="Shape 34"/>
          <p:cNvSpPr/>
          <p:nvPr/>
        </p:nvSpPr>
        <p:spPr>
          <a:xfrm>
            <a:off x="6675120" y="5212080"/>
            <a:ext cx="256032" cy="256032"/>
          </a:xfrm>
          <a:prstGeom prst="ellipse">
            <a:avLst/>
          </a:prstGeom>
          <a:solidFill>
            <a:srgbClr val="1F2B63"/>
          </a:solidFill>
          <a:ln/>
        </p:spPr>
      </p:sp>
      <p:pic>
        <p:nvPicPr>
          <p:cNvPr id="52" name="Image 15" descr="/home/claude/deck/icons/check.png"/>
          <p:cNvPicPr>
            <a:picLocks noChangeAspect="1"/>
          </p:cNvPicPr>
          <p:nvPr/>
        </p:nvPicPr>
        <p:blipFill>
          <a:blip r:embed="rId4"/>
          <a:stretch>
            <a:fillRect/>
          </a:stretch>
        </p:blipFill>
        <p:spPr>
          <a:xfrm>
            <a:off x="6708404" y="5245364"/>
            <a:ext cx="189464" cy="189464"/>
          </a:xfrm>
          <a:prstGeom prst="rect">
            <a:avLst/>
          </a:prstGeom>
        </p:spPr>
      </p:pic>
      <p:sp>
        <p:nvSpPr>
          <p:cNvPr id="53" name="Text 35"/>
          <p:cNvSpPr/>
          <p:nvPr/>
        </p:nvSpPr>
        <p:spPr>
          <a:xfrm>
            <a:off x="7059168" y="5175504"/>
            <a:ext cx="4297680" cy="457200"/>
          </a:xfrm>
          <a:prstGeom prst="rect">
            <a:avLst/>
          </a:prstGeom>
          <a:noFill/>
          <a:ln/>
        </p:spPr>
        <p:txBody>
          <a:bodyPr wrap="square" rtlCol="0" anchor="ctr"/>
          <a:lstStyle/>
          <a:p>
            <a:pPr marL="0" indent="0">
              <a:buNone/>
            </a:pPr>
            <a:r>
              <a:rPr lang="en-US" sz="1070" dirty="0">
                <a:solidFill>
                  <a:srgbClr val="CADCFC"/>
                </a:solidFill>
                <a:latin typeface="Calibri" pitchFamily="34" charset="0"/>
                <a:ea typeface="Calibri" pitchFamily="34" charset="-122"/>
                <a:cs typeface="Calibri" pitchFamily="34" charset="-120"/>
              </a:rPr>
              <a:t>Thumbnail output optimized as JPEG</a:t>
            </a:r>
            <a:endParaRPr lang="en-US" sz="1070" dirty="0"/>
          </a:p>
        </p:txBody>
      </p:sp>
      <p:sp>
        <p:nvSpPr>
          <p:cNvPr id="54" name="Text 36"/>
          <p:cNvSpPr/>
          <p:nvPr/>
        </p:nvSpPr>
        <p:spPr>
          <a:xfrm>
            <a:off x="457200" y="6528816"/>
            <a:ext cx="5486400" cy="274320"/>
          </a:xfrm>
          <a:prstGeom prst="rect">
            <a:avLst/>
          </a:prstGeom>
          <a:noFill/>
          <a:ln/>
        </p:spPr>
        <p:txBody>
          <a:bodyPr wrap="square" rtlCol="0" anchor="ctr"/>
          <a:lstStyle/>
          <a:p>
            <a:pPr marL="0" indent="0" algn="l">
              <a:buNone/>
            </a:pPr>
            <a:endParaRPr lang="en-US" sz="900" dirty="0"/>
          </a:p>
        </p:txBody>
      </p:sp>
      <p:sp>
        <p:nvSpPr>
          <p:cNvPr id="55" name="Text 37"/>
          <p:cNvSpPr/>
          <p:nvPr/>
        </p:nvSpPr>
        <p:spPr>
          <a:xfrm>
            <a:off x="9445752" y="6528816"/>
            <a:ext cx="2286000" cy="274320"/>
          </a:xfrm>
          <a:prstGeom prst="rect">
            <a:avLst/>
          </a:prstGeom>
          <a:noFill/>
          <a:ln/>
        </p:spPr>
        <p:txBody>
          <a:bodyPr wrap="square" rtlCol="0" anchor="ctr"/>
          <a:lstStyle/>
          <a:p>
            <a:pPr marL="0" indent="0" algn="r">
              <a:buNone/>
            </a:pPr>
            <a:r>
              <a:rPr lang="en-US" sz="900" dirty="0">
                <a:solidFill>
                  <a:srgbClr val="5C6280"/>
                </a:solidFill>
                <a:latin typeface="Calibri" pitchFamily="34" charset="0"/>
                <a:ea typeface="Calibri" pitchFamily="34" charset="-122"/>
                <a:cs typeface="Calibri" pitchFamily="34" charset="-120"/>
              </a:rPr>
              <a:t>TechFusion  |  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E"/>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4A6FE3"/>
                </a:solidFill>
                <a:latin typeface="Calibri" pitchFamily="34" charset="0"/>
                <a:ea typeface="Calibri" pitchFamily="34" charset="-122"/>
                <a:cs typeface="Calibri" pitchFamily="34" charset="-120"/>
              </a:rPr>
              <a:t>OUTCOME</a:t>
            </a:r>
            <a:endParaRPr lang="en-US" sz="1200" dirty="0"/>
          </a:p>
        </p:txBody>
      </p:sp>
      <p:sp>
        <p:nvSpPr>
          <p:cNvPr id="3" name="Text 1"/>
          <p:cNvSpPr/>
          <p:nvPr/>
        </p:nvSpPr>
        <p:spPr>
          <a:xfrm>
            <a:off x="548640" y="566928"/>
            <a:ext cx="10515600" cy="640080"/>
          </a:xfrm>
          <a:prstGeom prst="rect">
            <a:avLst/>
          </a:prstGeom>
          <a:noFill/>
          <a:ln/>
        </p:spPr>
        <p:txBody>
          <a:bodyPr wrap="square"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Prototype Results &amp; Improvements</a:t>
            </a:r>
            <a:endParaRPr lang="en-US" sz="3000" dirty="0"/>
          </a:p>
        </p:txBody>
      </p:sp>
      <p:sp>
        <p:nvSpPr>
          <p:cNvPr id="4" name="Shape 2"/>
          <p:cNvSpPr/>
          <p:nvPr/>
        </p:nvSpPr>
        <p:spPr>
          <a:xfrm>
            <a:off x="722376" y="1508760"/>
            <a:ext cx="3246120" cy="1417320"/>
          </a:xfrm>
          <a:prstGeom prst="roundRect">
            <a:avLst>
              <a:gd name="adj" fmla="val 6452"/>
            </a:avLst>
          </a:prstGeom>
          <a:solidFill>
            <a:srgbClr val="FFFFFF"/>
          </a:solidFill>
          <a:ln w="12700">
            <a:solidFill>
              <a:srgbClr val="E1E6F5"/>
            </a:solidFill>
            <a:prstDash val="solid"/>
          </a:ln>
          <a:effectLst>
            <a:outerShdw blurRad="63500" dist="25400" dir="5400000" algn="bl" rotWithShape="0">
              <a:srgbClr val="999999">
                <a:alpha val="15000"/>
              </a:srgbClr>
            </a:outerShdw>
          </a:effectLst>
        </p:spPr>
      </p:sp>
      <p:sp>
        <p:nvSpPr>
          <p:cNvPr id="5" name="Shape 3"/>
          <p:cNvSpPr/>
          <p:nvPr/>
        </p:nvSpPr>
        <p:spPr>
          <a:xfrm>
            <a:off x="905256" y="1691640"/>
            <a:ext cx="548640" cy="548640"/>
          </a:xfrm>
          <a:prstGeom prst="ellipse">
            <a:avLst/>
          </a:prstGeom>
          <a:solidFill>
            <a:srgbClr val="4A6FE3"/>
          </a:solidFill>
          <a:ln/>
        </p:spPr>
      </p:sp>
      <p:pic>
        <p:nvPicPr>
          <p:cNvPr id="6" name="Image 0" descr="/home/claude/deck/icons/image.png"/>
          <p:cNvPicPr>
            <a:picLocks noChangeAspect="1"/>
          </p:cNvPicPr>
          <p:nvPr/>
        </p:nvPicPr>
        <p:blipFill>
          <a:blip r:embed="rId3"/>
          <a:stretch>
            <a:fillRect/>
          </a:stretch>
        </p:blipFill>
        <p:spPr>
          <a:xfrm>
            <a:off x="976579" y="1762963"/>
            <a:ext cx="405994" cy="405994"/>
          </a:xfrm>
          <a:prstGeom prst="rect">
            <a:avLst/>
          </a:prstGeom>
        </p:spPr>
      </p:pic>
      <p:sp>
        <p:nvSpPr>
          <p:cNvPr id="7" name="Text 4"/>
          <p:cNvSpPr/>
          <p:nvPr/>
        </p:nvSpPr>
        <p:spPr>
          <a:xfrm>
            <a:off x="1591056" y="1709928"/>
            <a:ext cx="2240280" cy="365760"/>
          </a:xfrm>
          <a:prstGeom prst="rect">
            <a:avLst/>
          </a:prstGeom>
          <a:noFill/>
          <a:ln/>
        </p:spPr>
        <p:txBody>
          <a:bodyPr wrap="square" rtlCol="0" anchor="ctr"/>
          <a:lstStyle/>
          <a:p>
            <a:pPr marL="0" indent="0">
              <a:buNone/>
            </a:pPr>
            <a:r>
              <a:rPr lang="en-US" sz="1350" b="1" dirty="0">
                <a:solidFill>
                  <a:srgbClr val="1B1F3B"/>
                </a:solidFill>
                <a:latin typeface="Calibri" pitchFamily="34" charset="0"/>
                <a:ea typeface="Calibri" pitchFamily="34" charset="-122"/>
                <a:cs typeface="Calibri" pitchFamily="34" charset="-120"/>
              </a:rPr>
              <a:t>Original Upload</a:t>
            </a:r>
            <a:endParaRPr lang="en-US" sz="1350" dirty="0"/>
          </a:p>
        </p:txBody>
      </p:sp>
      <p:sp>
        <p:nvSpPr>
          <p:cNvPr id="8" name="Text 5"/>
          <p:cNvSpPr/>
          <p:nvPr/>
        </p:nvSpPr>
        <p:spPr>
          <a:xfrm>
            <a:off x="905256" y="2377440"/>
            <a:ext cx="2880360" cy="457200"/>
          </a:xfrm>
          <a:prstGeom prst="rect">
            <a:avLst/>
          </a:prstGeom>
          <a:noFill/>
          <a:ln/>
        </p:spPr>
        <p:txBody>
          <a:bodyPr wrap="square" rtlCol="0" anchor="ctr"/>
          <a:lstStyle/>
          <a:p>
            <a:pPr marL="0" indent="0">
              <a:buNone/>
            </a:pPr>
            <a:r>
              <a:rPr lang="en-US" sz="1050" dirty="0">
                <a:solidFill>
                  <a:srgbClr val="5C6280"/>
                </a:solidFill>
                <a:latin typeface="Calibri" pitchFamily="34" charset="0"/>
                <a:ea typeface="Calibri" pitchFamily="34" charset="-122"/>
                <a:cs typeface="Calibri" pitchFamily="34" charset="-120"/>
              </a:rPr>
              <a:t>Full-resolution image received</a:t>
            </a:r>
            <a:endParaRPr lang="en-US" sz="1050" dirty="0"/>
          </a:p>
        </p:txBody>
      </p:sp>
      <p:sp>
        <p:nvSpPr>
          <p:cNvPr id="9" name="Shape 6"/>
          <p:cNvSpPr/>
          <p:nvPr/>
        </p:nvSpPr>
        <p:spPr>
          <a:xfrm>
            <a:off x="4082796" y="2080260"/>
            <a:ext cx="274320" cy="274320"/>
          </a:xfrm>
          <a:prstGeom prst="ellipse">
            <a:avLst/>
          </a:prstGeom>
          <a:solidFill>
            <a:srgbClr val="E6ECFB"/>
          </a:solidFill>
          <a:ln/>
        </p:spPr>
      </p:sp>
      <p:pic>
        <p:nvPicPr>
          <p:cNvPr id="10" name="Image 1" descr="/home/claude/deck/icons/arrowright.png"/>
          <p:cNvPicPr>
            <a:picLocks noChangeAspect="1"/>
          </p:cNvPicPr>
          <p:nvPr/>
        </p:nvPicPr>
        <p:blipFill>
          <a:blip r:embed="rId4"/>
          <a:stretch>
            <a:fillRect/>
          </a:stretch>
        </p:blipFill>
        <p:spPr>
          <a:xfrm>
            <a:off x="4118458" y="2115922"/>
            <a:ext cx="202997" cy="202997"/>
          </a:xfrm>
          <a:prstGeom prst="rect">
            <a:avLst/>
          </a:prstGeom>
        </p:spPr>
      </p:pic>
      <p:sp>
        <p:nvSpPr>
          <p:cNvPr id="11" name="Shape 7"/>
          <p:cNvSpPr/>
          <p:nvPr/>
        </p:nvSpPr>
        <p:spPr>
          <a:xfrm>
            <a:off x="4471416" y="1508760"/>
            <a:ext cx="3246120" cy="1417320"/>
          </a:xfrm>
          <a:prstGeom prst="roundRect">
            <a:avLst>
              <a:gd name="adj" fmla="val 6452"/>
            </a:avLst>
          </a:prstGeom>
          <a:solidFill>
            <a:srgbClr val="FFFFFF"/>
          </a:solidFill>
          <a:ln w="12700">
            <a:solidFill>
              <a:srgbClr val="E1E6F5"/>
            </a:solidFill>
            <a:prstDash val="solid"/>
          </a:ln>
          <a:effectLst>
            <a:outerShdw blurRad="63500" dist="25400" dir="5400000" algn="bl" rotWithShape="0">
              <a:srgbClr val="999999">
                <a:alpha val="15000"/>
              </a:srgbClr>
            </a:outerShdw>
          </a:effectLst>
        </p:spPr>
      </p:sp>
      <p:sp>
        <p:nvSpPr>
          <p:cNvPr id="12" name="Shape 8"/>
          <p:cNvSpPr/>
          <p:nvPr/>
        </p:nvSpPr>
        <p:spPr>
          <a:xfrm>
            <a:off x="4654296" y="1691640"/>
            <a:ext cx="548640" cy="548640"/>
          </a:xfrm>
          <a:prstGeom prst="ellipse">
            <a:avLst/>
          </a:prstGeom>
          <a:solidFill>
            <a:srgbClr val="F79009"/>
          </a:solidFill>
          <a:ln/>
        </p:spPr>
      </p:sp>
      <p:pic>
        <p:nvPicPr>
          <p:cNvPr id="13" name="Image 2" descr="/home/claude/deck/icons/gear.png"/>
          <p:cNvPicPr>
            <a:picLocks noChangeAspect="1"/>
          </p:cNvPicPr>
          <p:nvPr/>
        </p:nvPicPr>
        <p:blipFill>
          <a:blip r:embed="rId5"/>
          <a:stretch>
            <a:fillRect/>
          </a:stretch>
        </p:blipFill>
        <p:spPr>
          <a:xfrm>
            <a:off x="4725619" y="1762963"/>
            <a:ext cx="405994" cy="405994"/>
          </a:xfrm>
          <a:prstGeom prst="rect">
            <a:avLst/>
          </a:prstGeom>
        </p:spPr>
      </p:pic>
      <p:sp>
        <p:nvSpPr>
          <p:cNvPr id="14" name="Text 9"/>
          <p:cNvSpPr/>
          <p:nvPr/>
        </p:nvSpPr>
        <p:spPr>
          <a:xfrm>
            <a:off x="5340096" y="1709928"/>
            <a:ext cx="2240280" cy="365760"/>
          </a:xfrm>
          <a:prstGeom prst="rect">
            <a:avLst/>
          </a:prstGeom>
          <a:noFill/>
          <a:ln/>
        </p:spPr>
        <p:txBody>
          <a:bodyPr wrap="square" rtlCol="0" anchor="ctr"/>
          <a:lstStyle/>
          <a:p>
            <a:pPr marL="0" indent="0">
              <a:buNone/>
            </a:pPr>
            <a:r>
              <a:rPr lang="en-US" sz="1350" b="1" dirty="0">
                <a:solidFill>
                  <a:srgbClr val="1B1F3B"/>
                </a:solidFill>
                <a:latin typeface="Calibri" pitchFamily="34" charset="0"/>
                <a:ea typeface="Calibri" pitchFamily="34" charset="-122"/>
                <a:cs typeface="Calibri" pitchFamily="34" charset="-120"/>
              </a:rPr>
              <a:t>Processing</a:t>
            </a:r>
            <a:endParaRPr lang="en-US" sz="1350" dirty="0"/>
          </a:p>
        </p:txBody>
      </p:sp>
      <p:sp>
        <p:nvSpPr>
          <p:cNvPr id="15" name="Text 10"/>
          <p:cNvSpPr/>
          <p:nvPr/>
        </p:nvSpPr>
        <p:spPr>
          <a:xfrm>
            <a:off x="4654296" y="2377440"/>
            <a:ext cx="2880360" cy="457200"/>
          </a:xfrm>
          <a:prstGeom prst="rect">
            <a:avLst/>
          </a:prstGeom>
          <a:noFill/>
          <a:ln/>
        </p:spPr>
        <p:txBody>
          <a:bodyPr wrap="square" rtlCol="0" anchor="ctr"/>
          <a:lstStyle/>
          <a:p>
            <a:pPr marL="0" indent="0">
              <a:buNone/>
            </a:pPr>
            <a:r>
              <a:rPr lang="en-US" sz="1050" dirty="0">
                <a:solidFill>
                  <a:srgbClr val="5C6280"/>
                </a:solidFill>
                <a:latin typeface="Calibri" pitchFamily="34" charset="0"/>
                <a:ea typeface="Calibri" pitchFamily="34" charset="-122"/>
                <a:cs typeface="Calibri" pitchFamily="34" charset="-120"/>
              </a:rPr>
              <a:t>Lambda + Pillow resize in progress</a:t>
            </a:r>
            <a:endParaRPr lang="en-US" sz="1050" dirty="0"/>
          </a:p>
        </p:txBody>
      </p:sp>
      <p:sp>
        <p:nvSpPr>
          <p:cNvPr id="16" name="Shape 11"/>
          <p:cNvSpPr/>
          <p:nvPr/>
        </p:nvSpPr>
        <p:spPr>
          <a:xfrm>
            <a:off x="7831836" y="2080260"/>
            <a:ext cx="274320" cy="274320"/>
          </a:xfrm>
          <a:prstGeom prst="ellipse">
            <a:avLst/>
          </a:prstGeom>
          <a:solidFill>
            <a:srgbClr val="E6ECFB"/>
          </a:solidFill>
          <a:ln/>
        </p:spPr>
      </p:sp>
      <p:pic>
        <p:nvPicPr>
          <p:cNvPr id="17" name="Image 3" descr="/home/claude/deck/icons/arrowright.png"/>
          <p:cNvPicPr>
            <a:picLocks noChangeAspect="1"/>
          </p:cNvPicPr>
          <p:nvPr/>
        </p:nvPicPr>
        <p:blipFill>
          <a:blip r:embed="rId4"/>
          <a:stretch>
            <a:fillRect/>
          </a:stretch>
        </p:blipFill>
        <p:spPr>
          <a:xfrm>
            <a:off x="7867498" y="2115922"/>
            <a:ext cx="202997" cy="202997"/>
          </a:xfrm>
          <a:prstGeom prst="rect">
            <a:avLst/>
          </a:prstGeom>
        </p:spPr>
      </p:pic>
      <p:sp>
        <p:nvSpPr>
          <p:cNvPr id="18" name="Shape 12"/>
          <p:cNvSpPr/>
          <p:nvPr/>
        </p:nvSpPr>
        <p:spPr>
          <a:xfrm>
            <a:off x="8220456" y="1508760"/>
            <a:ext cx="3246120" cy="1417320"/>
          </a:xfrm>
          <a:prstGeom prst="roundRect">
            <a:avLst>
              <a:gd name="adj" fmla="val 6452"/>
            </a:avLst>
          </a:prstGeom>
          <a:solidFill>
            <a:srgbClr val="FFFFFF"/>
          </a:solidFill>
          <a:ln w="12700">
            <a:solidFill>
              <a:srgbClr val="E1E6F5"/>
            </a:solidFill>
            <a:prstDash val="solid"/>
          </a:ln>
          <a:effectLst>
            <a:outerShdw blurRad="63500" dist="25400" dir="5400000" algn="bl" rotWithShape="0">
              <a:srgbClr val="999999">
                <a:alpha val="15000"/>
              </a:srgbClr>
            </a:outerShdw>
          </a:effectLst>
        </p:spPr>
      </p:sp>
      <p:sp>
        <p:nvSpPr>
          <p:cNvPr id="19" name="Shape 13"/>
          <p:cNvSpPr/>
          <p:nvPr/>
        </p:nvSpPr>
        <p:spPr>
          <a:xfrm>
            <a:off x="8403336" y="1691640"/>
            <a:ext cx="548640" cy="548640"/>
          </a:xfrm>
          <a:prstGeom prst="ellipse">
            <a:avLst/>
          </a:prstGeom>
          <a:solidFill>
            <a:srgbClr val="12B76A"/>
          </a:solidFill>
          <a:ln/>
        </p:spPr>
      </p:sp>
      <p:pic>
        <p:nvPicPr>
          <p:cNvPr id="20" name="Image 4" descr="/home/claude/deck/icons/check.png"/>
          <p:cNvPicPr>
            <a:picLocks noChangeAspect="1"/>
          </p:cNvPicPr>
          <p:nvPr/>
        </p:nvPicPr>
        <p:blipFill>
          <a:blip r:embed="rId6"/>
          <a:stretch>
            <a:fillRect/>
          </a:stretch>
        </p:blipFill>
        <p:spPr>
          <a:xfrm>
            <a:off x="8474659" y="1762963"/>
            <a:ext cx="405994" cy="405994"/>
          </a:xfrm>
          <a:prstGeom prst="rect">
            <a:avLst/>
          </a:prstGeom>
        </p:spPr>
      </p:pic>
      <p:sp>
        <p:nvSpPr>
          <p:cNvPr id="21" name="Text 14"/>
          <p:cNvSpPr/>
          <p:nvPr/>
        </p:nvSpPr>
        <p:spPr>
          <a:xfrm>
            <a:off x="9089136" y="1709928"/>
            <a:ext cx="2240280" cy="365760"/>
          </a:xfrm>
          <a:prstGeom prst="rect">
            <a:avLst/>
          </a:prstGeom>
          <a:noFill/>
          <a:ln/>
        </p:spPr>
        <p:txBody>
          <a:bodyPr wrap="square" rtlCol="0" anchor="ctr"/>
          <a:lstStyle/>
          <a:p>
            <a:pPr marL="0" indent="0">
              <a:buNone/>
            </a:pPr>
            <a:r>
              <a:rPr lang="en-US" sz="1350" b="1" dirty="0">
                <a:solidFill>
                  <a:srgbClr val="1B1F3B"/>
                </a:solidFill>
                <a:latin typeface="Calibri" pitchFamily="34" charset="0"/>
                <a:ea typeface="Calibri" pitchFamily="34" charset="-122"/>
                <a:cs typeface="Calibri" pitchFamily="34" charset="-120"/>
              </a:rPr>
              <a:t>Thumbnail Ready</a:t>
            </a:r>
            <a:endParaRPr lang="en-US" sz="1350" dirty="0"/>
          </a:p>
        </p:txBody>
      </p:sp>
      <p:sp>
        <p:nvSpPr>
          <p:cNvPr id="22" name="Text 15"/>
          <p:cNvSpPr/>
          <p:nvPr/>
        </p:nvSpPr>
        <p:spPr>
          <a:xfrm>
            <a:off x="8403336" y="2377440"/>
            <a:ext cx="2880360" cy="457200"/>
          </a:xfrm>
          <a:prstGeom prst="rect">
            <a:avLst/>
          </a:prstGeom>
          <a:noFill/>
          <a:ln/>
        </p:spPr>
        <p:txBody>
          <a:bodyPr wrap="square" rtlCol="0" anchor="ctr"/>
          <a:lstStyle/>
          <a:p>
            <a:pPr marL="0" indent="0">
              <a:buNone/>
            </a:pPr>
            <a:r>
              <a:rPr lang="en-US" sz="1050" dirty="0">
                <a:solidFill>
                  <a:srgbClr val="5C6280"/>
                </a:solidFill>
                <a:latin typeface="Calibri" pitchFamily="34" charset="0"/>
                <a:ea typeface="Calibri" pitchFamily="34" charset="-122"/>
                <a:cs typeface="Calibri" pitchFamily="34" charset="-120"/>
              </a:rPr>
              <a:t>Optimized JPEG delivered</a:t>
            </a:r>
            <a:endParaRPr lang="en-US" sz="1050" dirty="0"/>
          </a:p>
        </p:txBody>
      </p:sp>
      <p:sp>
        <p:nvSpPr>
          <p:cNvPr id="23" name="Shape 16"/>
          <p:cNvSpPr/>
          <p:nvPr/>
        </p:nvSpPr>
        <p:spPr>
          <a:xfrm>
            <a:off x="548640" y="3246120"/>
            <a:ext cx="274320" cy="274320"/>
          </a:xfrm>
          <a:prstGeom prst="ellipse">
            <a:avLst/>
          </a:prstGeom>
          <a:solidFill>
            <a:srgbClr val="E7F9F1"/>
          </a:solidFill>
          <a:ln/>
        </p:spPr>
      </p:sp>
      <p:pic>
        <p:nvPicPr>
          <p:cNvPr id="24" name="Image 5" descr="/home/claude/deck/icons/check.png"/>
          <p:cNvPicPr>
            <a:picLocks noChangeAspect="1"/>
          </p:cNvPicPr>
          <p:nvPr/>
        </p:nvPicPr>
        <p:blipFill>
          <a:blip r:embed="rId6"/>
          <a:stretch>
            <a:fillRect/>
          </a:stretch>
        </p:blipFill>
        <p:spPr>
          <a:xfrm>
            <a:off x="584302" y="3281782"/>
            <a:ext cx="202997" cy="202997"/>
          </a:xfrm>
          <a:prstGeom prst="rect">
            <a:avLst/>
          </a:prstGeom>
        </p:spPr>
      </p:pic>
      <p:sp>
        <p:nvSpPr>
          <p:cNvPr id="25" name="Text 17"/>
          <p:cNvSpPr/>
          <p:nvPr/>
        </p:nvSpPr>
        <p:spPr>
          <a:xfrm>
            <a:off x="914400" y="3200400"/>
            <a:ext cx="2331720" cy="457200"/>
          </a:xfrm>
          <a:prstGeom prst="rect">
            <a:avLst/>
          </a:prstGeom>
          <a:noFill/>
          <a:ln/>
        </p:spPr>
        <p:txBody>
          <a:bodyPr wrap="square" rtlCol="0" anchor="ctr"/>
          <a:lstStyle/>
          <a:p>
            <a:pPr marL="0" indent="0">
              <a:buNone/>
            </a:pPr>
            <a:r>
              <a:rPr lang="en-US" sz="1050" dirty="0">
                <a:solidFill>
                  <a:srgbClr val="1B1F3B"/>
                </a:solidFill>
                <a:latin typeface="Calibri" pitchFamily="34" charset="0"/>
                <a:ea typeface="Calibri" pitchFamily="34" charset="-122"/>
                <a:cs typeface="Calibri" pitchFamily="34" charset="-120"/>
              </a:rPr>
              <a:t>Successful image upload</a:t>
            </a:r>
            <a:endParaRPr lang="en-US" sz="1050" dirty="0"/>
          </a:p>
        </p:txBody>
      </p:sp>
      <p:sp>
        <p:nvSpPr>
          <p:cNvPr id="26" name="Shape 18"/>
          <p:cNvSpPr/>
          <p:nvPr/>
        </p:nvSpPr>
        <p:spPr>
          <a:xfrm>
            <a:off x="3246120" y="3246120"/>
            <a:ext cx="274320" cy="274320"/>
          </a:xfrm>
          <a:prstGeom prst="ellipse">
            <a:avLst/>
          </a:prstGeom>
          <a:solidFill>
            <a:srgbClr val="E7F9F1"/>
          </a:solidFill>
          <a:ln/>
        </p:spPr>
      </p:sp>
      <p:pic>
        <p:nvPicPr>
          <p:cNvPr id="27" name="Image 6" descr="/home/claude/deck/icons/check.png"/>
          <p:cNvPicPr>
            <a:picLocks noChangeAspect="1"/>
          </p:cNvPicPr>
          <p:nvPr/>
        </p:nvPicPr>
        <p:blipFill>
          <a:blip r:embed="rId6"/>
          <a:stretch>
            <a:fillRect/>
          </a:stretch>
        </p:blipFill>
        <p:spPr>
          <a:xfrm>
            <a:off x="3281782" y="3281782"/>
            <a:ext cx="202997" cy="202997"/>
          </a:xfrm>
          <a:prstGeom prst="rect">
            <a:avLst/>
          </a:prstGeom>
        </p:spPr>
      </p:pic>
      <p:sp>
        <p:nvSpPr>
          <p:cNvPr id="28" name="Text 19"/>
          <p:cNvSpPr/>
          <p:nvPr/>
        </p:nvSpPr>
        <p:spPr>
          <a:xfrm>
            <a:off x="3611880" y="3200400"/>
            <a:ext cx="2331720" cy="457200"/>
          </a:xfrm>
          <a:prstGeom prst="rect">
            <a:avLst/>
          </a:prstGeom>
          <a:noFill/>
          <a:ln/>
        </p:spPr>
        <p:txBody>
          <a:bodyPr wrap="square" rtlCol="0" anchor="ctr"/>
          <a:lstStyle/>
          <a:p>
            <a:pPr marL="0" indent="0">
              <a:buNone/>
            </a:pPr>
            <a:r>
              <a:rPr lang="en-US" sz="1050" dirty="0">
                <a:solidFill>
                  <a:srgbClr val="1B1F3B"/>
                </a:solidFill>
                <a:latin typeface="Calibri" pitchFamily="34" charset="0"/>
                <a:ea typeface="Calibri" pitchFamily="34" charset="-122"/>
                <a:cs typeface="Calibri" pitchFamily="34" charset="-120"/>
              </a:rPr>
              <a:t>Automatic Lambda invocation</a:t>
            </a:r>
            <a:endParaRPr lang="en-US" sz="1050" dirty="0"/>
          </a:p>
        </p:txBody>
      </p:sp>
      <p:sp>
        <p:nvSpPr>
          <p:cNvPr id="35" name="Text 24"/>
          <p:cNvSpPr/>
          <p:nvPr/>
        </p:nvSpPr>
        <p:spPr>
          <a:xfrm>
            <a:off x="548640" y="3886200"/>
            <a:ext cx="4572000" cy="274320"/>
          </a:xfrm>
          <a:prstGeom prst="rect">
            <a:avLst/>
          </a:prstGeom>
          <a:noFill/>
          <a:ln/>
        </p:spPr>
        <p:txBody>
          <a:bodyPr wrap="square" rtlCol="0" anchor="ctr"/>
          <a:lstStyle/>
          <a:p>
            <a:pPr marL="0" indent="0">
              <a:buNone/>
            </a:pPr>
            <a:r>
              <a:rPr lang="en-US" sz="1100" b="1" kern="0" spc="150" dirty="0">
                <a:solidFill>
                  <a:srgbClr val="4A6FE3"/>
                </a:solidFill>
                <a:latin typeface="Calibri" pitchFamily="34" charset="0"/>
                <a:ea typeface="Calibri" pitchFamily="34" charset="-122"/>
                <a:cs typeface="Calibri" pitchFamily="34" charset="-120"/>
              </a:rPr>
              <a:t>APPROACH COMPARISON</a:t>
            </a:r>
            <a:endParaRPr lang="en-US" sz="11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4187952"/>
          <a:ext cx="11064240" cy="1920240"/>
        </p:xfrm>
        <a:graphic>
          <a:graphicData uri="http://schemas.openxmlformats.org/drawingml/2006/table">
            <a:tbl>
              <a:tblPr/>
              <a:tblGrid>
                <a:gridCol w="274320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27432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Aspect</a:t>
                      </a:r>
                      <a:endParaRPr lang="en-US" sz="110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Earlier / Basic Approach</a:t>
                      </a:r>
                      <a:endParaRPr lang="en-US" sz="110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Final Prototype</a:t>
                      </a:r>
                      <a:endParaRPr lang="en-US" sz="110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74320">
                <a:tc>
                  <a:txBody>
                    <a:bodyPr/>
                    <a:lstStyle/>
                    <a:p>
                      <a:pPr marL="0" indent="0" algn="l">
                        <a:buNone/>
                      </a:pPr>
                      <a:r>
                        <a:rPr lang="en-US" sz="1050" dirty="0">
                          <a:solidFill>
                            <a:srgbClr val="1B1F3B"/>
                          </a:solidFill>
                          <a:latin typeface="Calibri" pitchFamily="34" charset="0"/>
                          <a:ea typeface="Calibri" pitchFamily="34" charset="-122"/>
                          <a:cs typeface="Calibri" pitchFamily="34" charset="-120"/>
                        </a:rPr>
                        <a:t>Processing</a:t>
                      </a:r>
                      <a:endParaRPr lang="en-US" sz="105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F0F3FC"/>
                    </a:solidFill>
                  </a:tcPr>
                </a:tc>
                <a:tc>
                  <a:txBody>
                    <a:bodyPr/>
                    <a:lstStyle/>
                    <a:p>
                      <a:pPr marL="0" indent="0" algn="ctr">
                        <a:buNone/>
                      </a:pPr>
                      <a:r>
                        <a:rPr lang="en-US" sz="1050" dirty="0">
                          <a:solidFill>
                            <a:srgbClr val="1B1F3B"/>
                          </a:solidFill>
                          <a:latin typeface="Calibri" pitchFamily="34" charset="0"/>
                          <a:ea typeface="Calibri" pitchFamily="34" charset="-122"/>
                          <a:cs typeface="Calibri" pitchFamily="34" charset="-120"/>
                        </a:rPr>
                        <a:t>Manual / server-based</a:t>
                      </a:r>
                      <a:endParaRPr lang="en-US" sz="105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F0F3FC"/>
                    </a:solidFill>
                  </a:tcPr>
                </a:tc>
                <a:tc>
                  <a:txBody>
                    <a:bodyPr/>
                    <a:lstStyle/>
                    <a:p>
                      <a:pPr marL="0" indent="0" algn="ctr">
                        <a:buNone/>
                      </a:pPr>
                      <a:r>
                        <a:rPr lang="en-US" sz="1050" dirty="0">
                          <a:solidFill>
                            <a:srgbClr val="0B6B3A"/>
                          </a:solidFill>
                          <a:latin typeface="Calibri" pitchFamily="34" charset="0"/>
                          <a:ea typeface="Calibri" pitchFamily="34" charset="-122"/>
                          <a:cs typeface="Calibri" pitchFamily="34" charset="-120"/>
                        </a:rPr>
                        <a:t>Automated via Lambda</a:t>
                      </a:r>
                      <a:endParaRPr lang="en-US" sz="105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F0F3FC"/>
                    </a:solidFill>
                  </a:tcPr>
                </a:tc>
                <a:extLst>
                  <a:ext uri="{0D108BD9-81ED-4DB2-BD59-A6C34878D82A}">
                    <a16:rowId xmlns:a16="http://schemas.microsoft.com/office/drawing/2014/main" val="10001"/>
                  </a:ext>
                </a:extLst>
              </a:tr>
              <a:tr h="274320">
                <a:tc>
                  <a:txBody>
                    <a:bodyPr/>
                    <a:lstStyle/>
                    <a:p>
                      <a:pPr marL="0" indent="0" algn="l">
                        <a:buNone/>
                      </a:pPr>
                      <a:r>
                        <a:rPr lang="en-US" sz="1050" dirty="0">
                          <a:solidFill>
                            <a:srgbClr val="1B1F3B"/>
                          </a:solidFill>
                          <a:latin typeface="Calibri" pitchFamily="34" charset="0"/>
                          <a:ea typeface="Calibri" pitchFamily="34" charset="-122"/>
                          <a:cs typeface="Calibri" pitchFamily="34" charset="-120"/>
                        </a:rPr>
                        <a:t>Storage</a:t>
                      </a:r>
                      <a:endParaRPr lang="en-US" sz="105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1F3B"/>
                          </a:solidFill>
                          <a:latin typeface="Calibri" pitchFamily="34" charset="0"/>
                          <a:ea typeface="Calibri" pitchFamily="34" charset="-122"/>
                          <a:cs typeface="Calibri" pitchFamily="34" charset="-120"/>
                        </a:rPr>
                        <a:t>Application server</a:t>
                      </a:r>
                      <a:endParaRPr lang="en-US" sz="105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B6B3A"/>
                          </a:solidFill>
                          <a:latin typeface="Calibri" pitchFamily="34" charset="0"/>
                          <a:ea typeface="Calibri" pitchFamily="34" charset="-122"/>
                          <a:cs typeface="Calibri" pitchFamily="34" charset="-120"/>
                        </a:rPr>
                        <a:t>Amazon S3</a:t>
                      </a:r>
                      <a:endParaRPr lang="en-US" sz="105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50" dirty="0">
                          <a:solidFill>
                            <a:srgbClr val="1B1F3B"/>
                          </a:solidFill>
                          <a:latin typeface="Calibri" pitchFamily="34" charset="0"/>
                          <a:ea typeface="Calibri" pitchFamily="34" charset="-122"/>
                          <a:cs typeface="Calibri" pitchFamily="34" charset="-120"/>
                        </a:rPr>
                        <a:t>Image processing</a:t>
                      </a:r>
                      <a:endParaRPr lang="en-US" sz="105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F0F3FC"/>
                    </a:solidFill>
                  </a:tcPr>
                </a:tc>
                <a:tc>
                  <a:txBody>
                    <a:bodyPr/>
                    <a:lstStyle/>
                    <a:p>
                      <a:pPr marL="0" indent="0" algn="ctr">
                        <a:buNone/>
                      </a:pPr>
                      <a:r>
                        <a:rPr lang="en-US" sz="1050" dirty="0">
                          <a:solidFill>
                            <a:srgbClr val="1B1F3B"/>
                          </a:solidFill>
                          <a:latin typeface="Calibri" pitchFamily="34" charset="0"/>
                          <a:ea typeface="Calibri" pitchFamily="34" charset="-122"/>
                          <a:cs typeface="Calibri" pitchFamily="34" charset="-120"/>
                        </a:rPr>
                        <a:t>Application workload</a:t>
                      </a:r>
                      <a:endParaRPr lang="en-US" sz="105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F0F3FC"/>
                    </a:solidFill>
                  </a:tcPr>
                </a:tc>
                <a:tc>
                  <a:txBody>
                    <a:bodyPr/>
                    <a:lstStyle/>
                    <a:p>
                      <a:pPr marL="0" indent="0" algn="ctr">
                        <a:buNone/>
                      </a:pPr>
                      <a:r>
                        <a:rPr lang="en-US" sz="1050" dirty="0">
                          <a:solidFill>
                            <a:srgbClr val="0B6B3A"/>
                          </a:solidFill>
                          <a:latin typeface="Calibri" pitchFamily="34" charset="0"/>
                          <a:ea typeface="Calibri" pitchFamily="34" charset="-122"/>
                          <a:cs typeface="Calibri" pitchFamily="34" charset="-120"/>
                        </a:rPr>
                        <a:t>Serverless Lambda</a:t>
                      </a:r>
                      <a:endParaRPr lang="en-US" sz="105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F0F3FC"/>
                    </a:solidFill>
                  </a:tcPr>
                </a:tc>
                <a:extLst>
                  <a:ext uri="{0D108BD9-81ED-4DB2-BD59-A6C34878D82A}">
                    <a16:rowId xmlns:a16="http://schemas.microsoft.com/office/drawing/2014/main" val="10003"/>
                  </a:ext>
                </a:extLst>
              </a:tr>
              <a:tr h="274320">
                <a:tc>
                  <a:txBody>
                    <a:bodyPr/>
                    <a:lstStyle/>
                    <a:p>
                      <a:pPr marL="0" indent="0" algn="l">
                        <a:buNone/>
                      </a:pPr>
                      <a:r>
                        <a:rPr lang="en-US" sz="1050" dirty="0">
                          <a:solidFill>
                            <a:srgbClr val="1B1F3B"/>
                          </a:solidFill>
                          <a:latin typeface="Calibri" pitchFamily="34" charset="0"/>
                          <a:ea typeface="Calibri" pitchFamily="34" charset="-122"/>
                          <a:cs typeface="Calibri" pitchFamily="34" charset="-120"/>
                        </a:rPr>
                        <a:t>Access</a:t>
                      </a:r>
                      <a:endParaRPr lang="en-US" sz="105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1F3B"/>
                          </a:solidFill>
                          <a:latin typeface="Calibri" pitchFamily="34" charset="0"/>
                          <a:ea typeface="Calibri" pitchFamily="34" charset="-122"/>
                          <a:cs typeface="Calibri" pitchFamily="34" charset="-120"/>
                        </a:rPr>
                        <a:t>Direct / public</a:t>
                      </a:r>
                      <a:endParaRPr lang="en-US" sz="105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B6B3A"/>
                          </a:solidFill>
                          <a:latin typeface="Calibri" pitchFamily="34" charset="0"/>
                          <a:ea typeface="Calibri" pitchFamily="34" charset="-122"/>
                          <a:cs typeface="Calibri" pitchFamily="34" charset="-120"/>
                        </a:rPr>
                        <a:t>Presigned URLs</a:t>
                      </a:r>
                      <a:endParaRPr lang="en-US" sz="105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l">
                        <a:buNone/>
                      </a:pPr>
                      <a:r>
                        <a:rPr lang="en-US" sz="1050" dirty="0">
                          <a:solidFill>
                            <a:srgbClr val="1B1F3B"/>
                          </a:solidFill>
                          <a:latin typeface="Calibri" pitchFamily="34" charset="0"/>
                          <a:ea typeface="Calibri" pitchFamily="34" charset="-122"/>
                          <a:cs typeface="Calibri" pitchFamily="34" charset="-120"/>
                        </a:rPr>
                        <a:t>Validation</a:t>
                      </a:r>
                      <a:endParaRPr lang="en-US" sz="105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F0F3FC"/>
                    </a:solidFill>
                  </a:tcPr>
                </a:tc>
                <a:tc>
                  <a:txBody>
                    <a:bodyPr/>
                    <a:lstStyle/>
                    <a:p>
                      <a:pPr marL="0" indent="0" algn="ctr">
                        <a:buNone/>
                      </a:pPr>
                      <a:r>
                        <a:rPr lang="en-US" sz="1050" dirty="0">
                          <a:solidFill>
                            <a:srgbClr val="1B1F3B"/>
                          </a:solidFill>
                          <a:latin typeface="Calibri" pitchFamily="34" charset="0"/>
                          <a:ea typeface="Calibri" pitchFamily="34" charset="-122"/>
                          <a:cs typeface="Calibri" pitchFamily="34" charset="-120"/>
                        </a:rPr>
                        <a:t>Basic</a:t>
                      </a:r>
                      <a:endParaRPr lang="en-US" sz="105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F0F3FC"/>
                    </a:solidFill>
                  </a:tcPr>
                </a:tc>
                <a:tc>
                  <a:txBody>
                    <a:bodyPr/>
                    <a:lstStyle/>
                    <a:p>
                      <a:pPr marL="0" indent="0" algn="ctr">
                        <a:buNone/>
                      </a:pPr>
                      <a:r>
                        <a:rPr lang="en-US" sz="1050" dirty="0">
                          <a:solidFill>
                            <a:srgbClr val="0B6B3A"/>
                          </a:solidFill>
                          <a:latin typeface="Calibri" pitchFamily="34" charset="0"/>
                          <a:ea typeface="Calibri" pitchFamily="34" charset="-122"/>
                          <a:cs typeface="Calibri" pitchFamily="34" charset="-120"/>
                        </a:rPr>
                        <a:t>Client + server-side</a:t>
                      </a:r>
                      <a:endParaRPr lang="en-US" sz="105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F0F3FC"/>
                    </a:solidFill>
                  </a:tcPr>
                </a:tc>
                <a:extLst>
                  <a:ext uri="{0D108BD9-81ED-4DB2-BD59-A6C34878D82A}">
                    <a16:rowId xmlns:a16="http://schemas.microsoft.com/office/drawing/2014/main" val="10005"/>
                  </a:ext>
                </a:extLst>
              </a:tr>
              <a:tr h="274320">
                <a:tc>
                  <a:txBody>
                    <a:bodyPr/>
                    <a:lstStyle/>
                    <a:p>
                      <a:pPr marL="0" indent="0" algn="l">
                        <a:buNone/>
                      </a:pPr>
                      <a:r>
                        <a:rPr lang="en-US" sz="1050" dirty="0">
                          <a:solidFill>
                            <a:srgbClr val="1B1F3B"/>
                          </a:solidFill>
                          <a:latin typeface="Calibri" pitchFamily="34" charset="0"/>
                          <a:ea typeface="Calibri" pitchFamily="34" charset="-122"/>
                          <a:cs typeface="Calibri" pitchFamily="34" charset="-120"/>
                        </a:rPr>
                        <a:t>Scaling</a:t>
                      </a:r>
                      <a:endParaRPr lang="en-US" sz="105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B1F3B"/>
                          </a:solidFill>
                          <a:latin typeface="Calibri" pitchFamily="34" charset="0"/>
                          <a:ea typeface="Calibri" pitchFamily="34" charset="-122"/>
                          <a:cs typeface="Calibri" pitchFamily="34" charset="-120"/>
                        </a:rPr>
                        <a:t>Limited</a:t>
                      </a:r>
                      <a:endParaRPr lang="en-US" sz="105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0B6B3A"/>
                          </a:solidFill>
                          <a:latin typeface="Calibri" pitchFamily="34" charset="0"/>
                          <a:ea typeface="Calibri" pitchFamily="34" charset="-122"/>
                          <a:cs typeface="Calibri" pitchFamily="34" charset="-120"/>
                        </a:rPr>
                        <a:t>Cloud-based, elastic</a:t>
                      </a:r>
                      <a:endParaRPr lang="en-US" sz="1050" dirty="0">
                        <a:latin typeface="Calibri" charset="0"/>
                        <a:ea typeface="Calibri" charset="0"/>
                        <a:cs typeface="Calibri" charset="0"/>
                      </a:endParaRPr>
                    </a:p>
                  </a:txBody>
                  <a:tcPr anchor="ctr">
                    <a:lnL w="9525" cap="flat" cmpd="sng" algn="ctr">
                      <a:solidFill>
                        <a:srgbClr val="E1E6F5"/>
                      </a:solidFill>
                      <a:prstDash val="solid"/>
                      <a:round/>
                      <a:headEnd type="none" w="med" len="med"/>
                      <a:tailEnd type="none" w="med" len="med"/>
                    </a:lnL>
                    <a:lnR w="9525" cap="flat" cmpd="sng" algn="ctr">
                      <a:solidFill>
                        <a:srgbClr val="E1E6F5"/>
                      </a:solidFill>
                      <a:prstDash val="solid"/>
                      <a:round/>
                      <a:headEnd type="none" w="med" len="med"/>
                      <a:tailEnd type="none" w="med" len="med"/>
                    </a:lnR>
                    <a:lnT w="9525" cap="flat" cmpd="sng" algn="ctr">
                      <a:solidFill>
                        <a:srgbClr val="E1E6F5"/>
                      </a:solidFill>
                      <a:prstDash val="solid"/>
                      <a:round/>
                      <a:headEnd type="none" w="med" len="med"/>
                      <a:tailEnd type="none" w="med" len="med"/>
                    </a:lnT>
                    <a:lnB w="9525" cap="flat" cmpd="sng" algn="ctr">
                      <a:solidFill>
                        <a:srgbClr val="E1E6F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37" name="Text 25"/>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5C6280"/>
                </a:solidFill>
                <a:latin typeface="Calibri" pitchFamily="34" charset="0"/>
                <a:ea typeface="Calibri" pitchFamily="34" charset="-122"/>
                <a:cs typeface="Calibri" pitchFamily="34" charset="-120"/>
              </a:rPr>
              <a:t>Results &amp; Improvements</a:t>
            </a:r>
            <a:endParaRPr lang="en-US" sz="900" dirty="0"/>
          </a:p>
        </p:txBody>
      </p:sp>
      <p:sp>
        <p:nvSpPr>
          <p:cNvPr id="38" name="Text 26"/>
          <p:cNvSpPr/>
          <p:nvPr/>
        </p:nvSpPr>
        <p:spPr>
          <a:xfrm>
            <a:off x="9445752" y="6528816"/>
            <a:ext cx="2286000" cy="274320"/>
          </a:xfrm>
          <a:prstGeom prst="rect">
            <a:avLst/>
          </a:prstGeom>
          <a:noFill/>
          <a:ln/>
        </p:spPr>
        <p:txBody>
          <a:bodyPr wrap="square" rtlCol="0" anchor="ctr"/>
          <a:lstStyle/>
          <a:p>
            <a:pPr marL="0" indent="0" algn="r">
              <a:buNone/>
            </a:pPr>
            <a:r>
              <a:rPr lang="en-US" sz="900" dirty="0">
                <a:solidFill>
                  <a:srgbClr val="5C6280"/>
                </a:solidFill>
                <a:latin typeface="Calibri" pitchFamily="34" charset="0"/>
                <a:ea typeface="Calibri" pitchFamily="34" charset="-122"/>
                <a:cs typeface="Calibri" pitchFamily="34" charset="-120"/>
              </a:rPr>
              <a:t>TechFusion  |  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4" name="Text 2"/>
          <p:cNvSpPr/>
          <p:nvPr/>
        </p:nvSpPr>
        <p:spPr>
          <a:xfrm>
            <a:off x="548640" y="365760"/>
            <a:ext cx="5486400" cy="320040"/>
          </a:xfrm>
          <a:prstGeom prst="rect">
            <a:avLst/>
          </a:prstGeom>
          <a:noFill/>
          <a:ln/>
        </p:spPr>
        <p:txBody>
          <a:bodyPr wrap="square" rtlCol="0" anchor="ctr"/>
          <a:lstStyle/>
          <a:p>
            <a:pPr marL="0" indent="0">
              <a:buNone/>
            </a:pPr>
            <a:r>
              <a:rPr lang="en-US" sz="1200" b="1" kern="0" spc="200" dirty="0">
                <a:solidFill>
                  <a:srgbClr val="00C2E0"/>
                </a:solidFill>
                <a:latin typeface="Calibri" pitchFamily="34" charset="0"/>
                <a:ea typeface="Calibri" pitchFamily="34" charset="-122"/>
                <a:cs typeface="Calibri" pitchFamily="34" charset="-120"/>
              </a:rPr>
              <a:t>LOOKING AHEAD</a:t>
            </a:r>
            <a:endParaRPr lang="en-US" sz="1200" dirty="0"/>
          </a:p>
        </p:txBody>
      </p:sp>
      <p:sp>
        <p:nvSpPr>
          <p:cNvPr id="5" name="Text 3"/>
          <p:cNvSpPr/>
          <p:nvPr/>
        </p:nvSpPr>
        <p:spPr>
          <a:xfrm>
            <a:off x="548640" y="658368"/>
            <a:ext cx="10058400" cy="5943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Future Scope &amp; Conclusion</a:t>
            </a:r>
            <a:endParaRPr lang="en-US" sz="3000" dirty="0"/>
          </a:p>
        </p:txBody>
      </p:sp>
      <p:sp>
        <p:nvSpPr>
          <p:cNvPr id="6" name="Shape 4"/>
          <p:cNvSpPr/>
          <p:nvPr/>
        </p:nvSpPr>
        <p:spPr>
          <a:xfrm>
            <a:off x="548640" y="1508760"/>
            <a:ext cx="3429000" cy="402336"/>
          </a:xfrm>
          <a:prstGeom prst="roundRect">
            <a:avLst>
              <a:gd name="adj" fmla="val 50000"/>
            </a:avLst>
          </a:prstGeom>
          <a:solidFill>
            <a:srgbClr val="161C4D"/>
          </a:solidFill>
          <a:ln w="12700">
            <a:solidFill>
              <a:srgbClr val="324086"/>
            </a:solidFill>
            <a:prstDash val="solid"/>
          </a:ln>
        </p:spPr>
      </p:sp>
      <p:sp>
        <p:nvSpPr>
          <p:cNvPr id="7" name="Text 5"/>
          <p:cNvSpPr/>
          <p:nvPr/>
        </p:nvSpPr>
        <p:spPr>
          <a:xfrm>
            <a:off x="731520" y="1508760"/>
            <a:ext cx="3154680" cy="402336"/>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Multiple thumbnail sizes</a:t>
            </a:r>
            <a:endParaRPr lang="en-US" sz="1000" dirty="0"/>
          </a:p>
        </p:txBody>
      </p:sp>
      <p:sp>
        <p:nvSpPr>
          <p:cNvPr id="8" name="Shape 6"/>
          <p:cNvSpPr/>
          <p:nvPr/>
        </p:nvSpPr>
        <p:spPr>
          <a:xfrm>
            <a:off x="4160520" y="1508760"/>
            <a:ext cx="3429000" cy="402336"/>
          </a:xfrm>
          <a:prstGeom prst="roundRect">
            <a:avLst>
              <a:gd name="adj" fmla="val 50000"/>
            </a:avLst>
          </a:prstGeom>
          <a:solidFill>
            <a:srgbClr val="161C4D"/>
          </a:solidFill>
          <a:ln w="12700">
            <a:solidFill>
              <a:srgbClr val="324086"/>
            </a:solidFill>
            <a:prstDash val="solid"/>
          </a:ln>
        </p:spPr>
      </p:sp>
      <p:sp>
        <p:nvSpPr>
          <p:cNvPr id="9" name="Text 7"/>
          <p:cNvSpPr/>
          <p:nvPr/>
        </p:nvSpPr>
        <p:spPr>
          <a:xfrm>
            <a:off x="4343400" y="1508760"/>
            <a:ext cx="3154680" cy="402336"/>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Batch image processing</a:t>
            </a:r>
            <a:endParaRPr lang="en-US" sz="1000" dirty="0"/>
          </a:p>
        </p:txBody>
      </p:sp>
      <p:sp>
        <p:nvSpPr>
          <p:cNvPr id="10" name="Shape 8"/>
          <p:cNvSpPr/>
          <p:nvPr/>
        </p:nvSpPr>
        <p:spPr>
          <a:xfrm>
            <a:off x="7772400" y="1508760"/>
            <a:ext cx="3429000" cy="402336"/>
          </a:xfrm>
          <a:prstGeom prst="roundRect">
            <a:avLst>
              <a:gd name="adj" fmla="val 50000"/>
            </a:avLst>
          </a:prstGeom>
          <a:solidFill>
            <a:srgbClr val="161C4D"/>
          </a:solidFill>
          <a:ln w="12700">
            <a:solidFill>
              <a:srgbClr val="324086"/>
            </a:solidFill>
            <a:prstDash val="solid"/>
          </a:ln>
        </p:spPr>
      </p:sp>
      <p:sp>
        <p:nvSpPr>
          <p:cNvPr id="11" name="Text 9"/>
          <p:cNvSpPr/>
          <p:nvPr/>
        </p:nvSpPr>
        <p:spPr>
          <a:xfrm>
            <a:off x="7955280" y="1508760"/>
            <a:ext cx="3154680" cy="402336"/>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Additional image formats</a:t>
            </a:r>
            <a:endParaRPr lang="en-US" sz="1000" dirty="0"/>
          </a:p>
        </p:txBody>
      </p:sp>
      <p:sp>
        <p:nvSpPr>
          <p:cNvPr id="12" name="Shape 10"/>
          <p:cNvSpPr/>
          <p:nvPr/>
        </p:nvSpPr>
        <p:spPr>
          <a:xfrm>
            <a:off x="548640" y="2011680"/>
            <a:ext cx="3429000" cy="402336"/>
          </a:xfrm>
          <a:prstGeom prst="roundRect">
            <a:avLst>
              <a:gd name="adj" fmla="val 50000"/>
            </a:avLst>
          </a:prstGeom>
          <a:solidFill>
            <a:srgbClr val="161C4D"/>
          </a:solidFill>
          <a:ln w="12700">
            <a:solidFill>
              <a:srgbClr val="324086"/>
            </a:solidFill>
            <a:prstDash val="solid"/>
          </a:ln>
        </p:spPr>
      </p:sp>
      <p:sp>
        <p:nvSpPr>
          <p:cNvPr id="13" name="Text 11"/>
          <p:cNvSpPr/>
          <p:nvPr/>
        </p:nvSpPr>
        <p:spPr>
          <a:xfrm>
            <a:off x="731520" y="2011680"/>
            <a:ext cx="3154680" cy="402336"/>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Compression controls</a:t>
            </a:r>
            <a:endParaRPr lang="en-US" sz="1000" dirty="0"/>
          </a:p>
        </p:txBody>
      </p:sp>
      <p:sp>
        <p:nvSpPr>
          <p:cNvPr id="14" name="Shape 12"/>
          <p:cNvSpPr/>
          <p:nvPr/>
        </p:nvSpPr>
        <p:spPr>
          <a:xfrm>
            <a:off x="4160520" y="2011680"/>
            <a:ext cx="3429000" cy="402336"/>
          </a:xfrm>
          <a:prstGeom prst="roundRect">
            <a:avLst>
              <a:gd name="adj" fmla="val 50000"/>
            </a:avLst>
          </a:prstGeom>
          <a:solidFill>
            <a:srgbClr val="161C4D"/>
          </a:solidFill>
          <a:ln w="12700">
            <a:solidFill>
              <a:srgbClr val="324086"/>
            </a:solidFill>
            <a:prstDash val="solid"/>
          </a:ln>
        </p:spPr>
      </p:sp>
      <p:sp>
        <p:nvSpPr>
          <p:cNvPr id="15" name="Text 13"/>
          <p:cNvSpPr/>
          <p:nvPr/>
        </p:nvSpPr>
        <p:spPr>
          <a:xfrm>
            <a:off x="4343400" y="2011680"/>
            <a:ext cx="3154680" cy="402336"/>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WebP / AVIF output</a:t>
            </a:r>
            <a:endParaRPr lang="en-US" sz="1000" dirty="0"/>
          </a:p>
        </p:txBody>
      </p:sp>
      <p:sp>
        <p:nvSpPr>
          <p:cNvPr id="16" name="Shape 14"/>
          <p:cNvSpPr/>
          <p:nvPr/>
        </p:nvSpPr>
        <p:spPr>
          <a:xfrm>
            <a:off x="7772400" y="2011680"/>
            <a:ext cx="3429000" cy="402336"/>
          </a:xfrm>
          <a:prstGeom prst="roundRect">
            <a:avLst>
              <a:gd name="adj" fmla="val 50000"/>
            </a:avLst>
          </a:prstGeom>
          <a:solidFill>
            <a:srgbClr val="161C4D"/>
          </a:solidFill>
          <a:ln w="12700">
            <a:solidFill>
              <a:srgbClr val="324086"/>
            </a:solidFill>
            <a:prstDash val="solid"/>
          </a:ln>
        </p:spPr>
      </p:sp>
      <p:sp>
        <p:nvSpPr>
          <p:cNvPr id="17" name="Text 15"/>
          <p:cNvSpPr/>
          <p:nvPr/>
        </p:nvSpPr>
        <p:spPr>
          <a:xfrm>
            <a:off x="7955280" y="2011680"/>
            <a:ext cx="3154680" cy="402336"/>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CDN integration</a:t>
            </a:r>
            <a:endParaRPr lang="en-US" sz="1000" dirty="0"/>
          </a:p>
        </p:txBody>
      </p:sp>
      <p:sp>
        <p:nvSpPr>
          <p:cNvPr id="18" name="Shape 16"/>
          <p:cNvSpPr/>
          <p:nvPr/>
        </p:nvSpPr>
        <p:spPr>
          <a:xfrm>
            <a:off x="548640" y="2514600"/>
            <a:ext cx="3429000" cy="402336"/>
          </a:xfrm>
          <a:prstGeom prst="roundRect">
            <a:avLst>
              <a:gd name="adj" fmla="val 50000"/>
            </a:avLst>
          </a:prstGeom>
          <a:solidFill>
            <a:srgbClr val="161C4D"/>
          </a:solidFill>
          <a:ln w="12700">
            <a:solidFill>
              <a:srgbClr val="324086"/>
            </a:solidFill>
            <a:prstDash val="solid"/>
          </a:ln>
        </p:spPr>
      </p:sp>
      <p:sp>
        <p:nvSpPr>
          <p:cNvPr id="19" name="Text 17"/>
          <p:cNvSpPr/>
          <p:nvPr/>
        </p:nvSpPr>
        <p:spPr>
          <a:xfrm>
            <a:off x="731520" y="2514600"/>
            <a:ext cx="3154680" cy="402336"/>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Fully serverless deployment</a:t>
            </a:r>
            <a:endParaRPr lang="en-US" sz="1000" dirty="0"/>
          </a:p>
        </p:txBody>
      </p:sp>
      <p:sp>
        <p:nvSpPr>
          <p:cNvPr id="20" name="Shape 18"/>
          <p:cNvSpPr/>
          <p:nvPr/>
        </p:nvSpPr>
        <p:spPr>
          <a:xfrm>
            <a:off x="4160520" y="2514600"/>
            <a:ext cx="3429000" cy="402336"/>
          </a:xfrm>
          <a:prstGeom prst="roundRect">
            <a:avLst>
              <a:gd name="adj" fmla="val 50000"/>
            </a:avLst>
          </a:prstGeom>
          <a:solidFill>
            <a:srgbClr val="161C4D"/>
          </a:solidFill>
          <a:ln w="12700">
            <a:solidFill>
              <a:srgbClr val="324086"/>
            </a:solidFill>
            <a:prstDash val="solid"/>
          </a:ln>
        </p:spPr>
      </p:sp>
      <p:sp>
        <p:nvSpPr>
          <p:cNvPr id="21" name="Text 19"/>
          <p:cNvSpPr/>
          <p:nvPr/>
        </p:nvSpPr>
        <p:spPr>
          <a:xfrm>
            <a:off x="4343400" y="2514600"/>
            <a:ext cx="3154680" cy="402336"/>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Processing history</a:t>
            </a:r>
            <a:endParaRPr lang="en-US" sz="1000" dirty="0"/>
          </a:p>
        </p:txBody>
      </p:sp>
      <p:sp>
        <p:nvSpPr>
          <p:cNvPr id="22" name="Shape 20"/>
          <p:cNvSpPr/>
          <p:nvPr/>
        </p:nvSpPr>
        <p:spPr>
          <a:xfrm>
            <a:off x="7772400" y="2514600"/>
            <a:ext cx="3429000" cy="402336"/>
          </a:xfrm>
          <a:prstGeom prst="roundRect">
            <a:avLst>
              <a:gd name="adj" fmla="val 50000"/>
            </a:avLst>
          </a:prstGeom>
          <a:solidFill>
            <a:srgbClr val="161C4D"/>
          </a:solidFill>
          <a:ln w="12700">
            <a:solidFill>
              <a:srgbClr val="324086"/>
            </a:solidFill>
            <a:prstDash val="solid"/>
          </a:ln>
        </p:spPr>
      </p:sp>
      <p:sp>
        <p:nvSpPr>
          <p:cNvPr id="23" name="Text 21"/>
          <p:cNvSpPr/>
          <p:nvPr/>
        </p:nvSpPr>
        <p:spPr>
          <a:xfrm>
            <a:off x="7955280" y="2514600"/>
            <a:ext cx="3154680" cy="402336"/>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User authentication</a:t>
            </a:r>
            <a:endParaRPr lang="en-US" sz="1000" dirty="0"/>
          </a:p>
        </p:txBody>
      </p:sp>
      <p:sp>
        <p:nvSpPr>
          <p:cNvPr id="24" name="Shape 22"/>
          <p:cNvSpPr/>
          <p:nvPr/>
        </p:nvSpPr>
        <p:spPr>
          <a:xfrm>
            <a:off x="548640" y="3017520"/>
            <a:ext cx="3429000" cy="402336"/>
          </a:xfrm>
          <a:prstGeom prst="roundRect">
            <a:avLst>
              <a:gd name="adj" fmla="val 50000"/>
            </a:avLst>
          </a:prstGeom>
          <a:solidFill>
            <a:srgbClr val="161C4D"/>
          </a:solidFill>
          <a:ln w="12700">
            <a:solidFill>
              <a:srgbClr val="324086"/>
            </a:solidFill>
            <a:prstDash val="solid"/>
          </a:ln>
        </p:spPr>
      </p:sp>
      <p:sp>
        <p:nvSpPr>
          <p:cNvPr id="25" name="Text 23"/>
          <p:cNvSpPr/>
          <p:nvPr/>
        </p:nvSpPr>
        <p:spPr>
          <a:xfrm>
            <a:off x="731520" y="3017520"/>
            <a:ext cx="3154680" cy="402336"/>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Monitoring &amp; analytics</a:t>
            </a:r>
            <a:endParaRPr lang="en-US" sz="1000" dirty="0"/>
          </a:p>
        </p:txBody>
      </p:sp>
      <p:sp>
        <p:nvSpPr>
          <p:cNvPr id="26" name="Shape 24"/>
          <p:cNvSpPr/>
          <p:nvPr/>
        </p:nvSpPr>
        <p:spPr>
          <a:xfrm>
            <a:off x="4160520" y="3017520"/>
            <a:ext cx="3429000" cy="402336"/>
          </a:xfrm>
          <a:prstGeom prst="roundRect">
            <a:avLst>
              <a:gd name="adj" fmla="val 50000"/>
            </a:avLst>
          </a:prstGeom>
          <a:solidFill>
            <a:srgbClr val="161C4D"/>
          </a:solidFill>
          <a:ln w="12700">
            <a:solidFill>
              <a:srgbClr val="324086"/>
            </a:solidFill>
            <a:prstDash val="solid"/>
          </a:ln>
        </p:spPr>
      </p:sp>
      <p:sp>
        <p:nvSpPr>
          <p:cNvPr id="27" name="Text 25"/>
          <p:cNvSpPr/>
          <p:nvPr/>
        </p:nvSpPr>
        <p:spPr>
          <a:xfrm>
            <a:off x="4343400" y="3017520"/>
            <a:ext cx="3154680" cy="402336"/>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Storage lifecycle policies</a:t>
            </a:r>
            <a:endParaRPr lang="en-US" sz="1000" dirty="0"/>
          </a:p>
        </p:txBody>
      </p:sp>
      <p:sp>
        <p:nvSpPr>
          <p:cNvPr id="28" name="Shape 26"/>
          <p:cNvSpPr/>
          <p:nvPr/>
        </p:nvSpPr>
        <p:spPr>
          <a:xfrm>
            <a:off x="548640" y="3703320"/>
            <a:ext cx="11064240" cy="1417320"/>
          </a:xfrm>
          <a:prstGeom prst="roundRect">
            <a:avLst>
              <a:gd name="adj" fmla="val 6452"/>
            </a:avLst>
          </a:prstGeom>
          <a:solidFill>
            <a:srgbClr val="161C4D"/>
          </a:solidFill>
          <a:ln w="12700">
            <a:solidFill>
              <a:srgbClr val="4A6FE3"/>
            </a:solidFill>
            <a:prstDash val="solid"/>
          </a:ln>
        </p:spPr>
      </p:sp>
      <p:sp>
        <p:nvSpPr>
          <p:cNvPr id="29" name="Text 27"/>
          <p:cNvSpPr/>
          <p:nvPr/>
        </p:nvSpPr>
        <p:spPr>
          <a:xfrm>
            <a:off x="777240" y="3840480"/>
            <a:ext cx="3657600" cy="274320"/>
          </a:xfrm>
          <a:prstGeom prst="rect">
            <a:avLst/>
          </a:prstGeom>
          <a:noFill/>
          <a:ln/>
        </p:spPr>
        <p:txBody>
          <a:bodyPr wrap="square" rtlCol="0" anchor="ctr"/>
          <a:lstStyle/>
          <a:p>
            <a:pPr marL="0" indent="0">
              <a:buNone/>
            </a:pPr>
            <a:r>
              <a:rPr lang="en-US" sz="1100" b="1" kern="0" spc="200" dirty="0">
                <a:solidFill>
                  <a:srgbClr val="00C2E0"/>
                </a:solidFill>
                <a:latin typeface="Calibri" pitchFamily="34" charset="0"/>
                <a:ea typeface="Calibri" pitchFamily="34" charset="-122"/>
                <a:cs typeface="Calibri" pitchFamily="34" charset="-120"/>
              </a:rPr>
              <a:t>CONCLUSION</a:t>
            </a:r>
            <a:endParaRPr lang="en-US" sz="1100" dirty="0"/>
          </a:p>
        </p:txBody>
      </p:sp>
      <p:sp>
        <p:nvSpPr>
          <p:cNvPr id="30" name="Text 28"/>
          <p:cNvSpPr/>
          <p:nvPr/>
        </p:nvSpPr>
        <p:spPr>
          <a:xfrm>
            <a:off x="777240" y="4142232"/>
            <a:ext cx="10607040" cy="91440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This project successfully demonstrates cloud-based image processing, event-driven architecture, serverless computing, secure object storage, and automated image transformation — as a complete, functional end-to-end prototype.</a:t>
            </a:r>
            <a:endParaRPr lang="en-US" sz="1300" dirty="0"/>
          </a:p>
        </p:txBody>
      </p:sp>
      <p:sp>
        <p:nvSpPr>
          <p:cNvPr id="31" name="Text 29"/>
          <p:cNvSpPr/>
          <p:nvPr/>
        </p:nvSpPr>
        <p:spPr>
          <a:xfrm>
            <a:off x="548640" y="5349240"/>
            <a:ext cx="11064240" cy="640080"/>
          </a:xfrm>
          <a:prstGeom prst="rect">
            <a:avLst/>
          </a:prstGeom>
          <a:noFill/>
          <a:ln/>
        </p:spPr>
        <p:txBody>
          <a:bodyPr wrap="square" rtlCol="0" anchor="ctr"/>
          <a:lstStyle/>
          <a:p>
            <a:pPr marL="0" indent="0" algn="ctr">
              <a:buNone/>
            </a:pPr>
            <a:r>
              <a:rPr lang="en-US" sz="1600" i="1" dirty="0">
                <a:solidFill>
                  <a:srgbClr val="00C2E0"/>
                </a:solidFill>
                <a:latin typeface="Cambria" pitchFamily="34" charset="0"/>
                <a:ea typeface="Cambria" pitchFamily="34" charset="-122"/>
                <a:cs typeface="Cambria" pitchFamily="34" charset="-120"/>
              </a:rPr>
              <a:t>“From image upload to automated thumbnail generation — the entire workflow is cloud-powered, automated, and scalable.”</a:t>
            </a:r>
            <a:endParaRPr lang="en-US" sz="1600" dirty="0"/>
          </a:p>
        </p:txBody>
      </p:sp>
      <p:sp>
        <p:nvSpPr>
          <p:cNvPr id="32" name="Text 30"/>
          <p:cNvSpPr/>
          <p:nvPr/>
        </p:nvSpPr>
        <p:spPr>
          <a:xfrm>
            <a:off x="548640" y="6126480"/>
            <a:ext cx="11064240" cy="36576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TechFusion</a:t>
            </a:r>
            <a:endParaRPr lang="en-US" sz="1500" dirty="0"/>
          </a:p>
        </p:txBody>
      </p:sp>
      <p:sp>
        <p:nvSpPr>
          <p:cNvPr id="33" name="Text 31"/>
          <p:cNvSpPr/>
          <p:nvPr/>
        </p:nvSpPr>
        <p:spPr>
          <a:xfrm>
            <a:off x="548640" y="6446520"/>
            <a:ext cx="11064240" cy="27432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Chitvan Goel  |  Sujal Bansal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1866</Words>
  <Application>Microsoft Office PowerPoint</Application>
  <PresentationFormat>Widescreen</PresentationFormat>
  <Paragraphs>238</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chitvan goel</cp:lastModifiedBy>
  <cp:revision>2</cp:revision>
  <dcterms:created xsi:type="dcterms:W3CDTF">2026-09-07T09:04:40Z</dcterms:created>
  <dcterms:modified xsi:type="dcterms:W3CDTF">2026-09-07T09:47:28Z</dcterms:modified>
</cp:coreProperties>
</file>